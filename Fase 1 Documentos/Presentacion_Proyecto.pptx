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</c:v>
                </c:pt>
              </c:strCache>
            </c:strRef>
          </c:tx>
          <c:spPr>
            <a:solidFill>
              <a:srgbClr val="F5F8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Documentación final, demo y cierre</c:v>
                  </c:pt>
                  <c:pt idx="1">
                    <c:v>Validación de brechas con Encipharm/Alloxentric</c:v>
                  </c:pt>
                  <c:pt idx="2">
                    <c:v>Pruebas funcionales end-to-end y validación</c:v>
                  </c:pt>
                  <c:pt idx="3">
                    <c:v>Cobertura de pruebas, safety scan, smoke tests</c:v>
                  </c:pt>
                  <c:pt idx="4">
                    <c:v>Filtrado de alertas por vigencia/idioma</c:v>
                  </c:pt>
                  <c:pt idx="5">
                    <c:v>Endurecimiento de agentes de scraping</c:v>
                  </c:pt>
                  <c:pt idx="6">
                    <c:v>Unificación del campo "rol"</c:v>
                  </c:pt>
                  <c:pt idx="7">
                    <c:v>Reemplazo del pickle del vector store</c:v>
                  </c:pt>
                  <c:pt idx="8">
                    <c:v>Ampliación de CORS a entorno de test</c:v>
                  </c:pt>
                  <c:pt idx="9">
                    <c:v>Rate limiter y caché compartidos</c:v>
                  </c:pt>
                  <c:pt idx="10">
                    <c:v>Corrección región del Scheduler</c:v>
                  </c:pt>
                  <c:pt idx="11">
                    <c:v>Embeddings multilingües + reindexado</c:v>
                  </c:pt>
                  <c:pt idx="12">
                    <c:v>Reglas de Firestore (firestore.rules)</c:v>
                  </c:pt>
                  <c:pt idx="13">
                    <c:v>Autenticación en endpoints de lectura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15</c:v>
                </c:pt>
                <c:pt idx="1">
                  <c:v>13</c:v>
                </c:pt>
                <c:pt idx="2">
                  <c:v>10</c:v>
                </c:pt>
                <c:pt idx="3">
                  <c:v>7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Fase 1 (S1–S4)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Documentación final, demo y cierre</c:v>
                  </c:pt>
                  <c:pt idx="1">
                    <c:v>Validación de brechas con Encipharm/Alloxentric</c:v>
                  </c:pt>
                  <c:pt idx="2">
                    <c:v>Pruebas funcionales end-to-end y validación</c:v>
                  </c:pt>
                  <c:pt idx="3">
                    <c:v>Cobertura de pruebas, safety scan, smoke tests</c:v>
                  </c:pt>
                  <c:pt idx="4">
                    <c:v>Filtrado de alertas por vigencia/idioma</c:v>
                  </c:pt>
                  <c:pt idx="5">
                    <c:v>Endurecimiento de agentes de scraping</c:v>
                  </c:pt>
                  <c:pt idx="6">
                    <c:v>Unificación del campo "rol"</c:v>
                  </c:pt>
                  <c:pt idx="7">
                    <c:v>Reemplazo del pickle del vector store</c:v>
                  </c:pt>
                  <c:pt idx="8">
                    <c:v>Ampliación de CORS a entorno de test</c:v>
                  </c:pt>
                  <c:pt idx="9">
                    <c:v>Rate limiter y caché compartidos</c:v>
                  </c:pt>
                  <c:pt idx="10">
                    <c:v>Corrección región del Scheduler</c:v>
                  </c:pt>
                  <c:pt idx="11">
                    <c:v>Embeddings multilingües + reindexado</c:v>
                  </c:pt>
                  <c:pt idx="12">
                    <c:v>Reglas de Firestore (firestore.rules)</c:v>
                  </c:pt>
                  <c:pt idx="13">
                    <c:v>Autenticación en endpoints de lectura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1</c:v>
                </c:pt>
                <c:pt idx="9">
                  <c:v>3</c:v>
                </c:pt>
                <c:pt idx="10">
                  <c:v>1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Fase 2 (S5–S15)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Documentación final, demo y cierre</c:v>
                  </c:pt>
                  <c:pt idx="1">
                    <c:v>Validación de brechas con Encipharm/Alloxentric</c:v>
                  </c:pt>
                  <c:pt idx="2">
                    <c:v>Pruebas funcionales end-to-end y validación</c:v>
                  </c:pt>
                  <c:pt idx="3">
                    <c:v>Cobertura de pruebas, safety scan, smoke tests</c:v>
                  </c:pt>
                  <c:pt idx="4">
                    <c:v>Filtrado de alertas por vigencia/idioma</c:v>
                  </c:pt>
                  <c:pt idx="5">
                    <c:v>Endurecimiento de agentes de scraping</c:v>
                  </c:pt>
                  <c:pt idx="6">
                    <c:v>Unificación del campo "rol"</c:v>
                  </c:pt>
                  <c:pt idx="7">
                    <c:v>Reemplazo del pickle del vector store</c:v>
                  </c:pt>
                  <c:pt idx="8">
                    <c:v>Ampliación de CORS a entorno de test</c:v>
                  </c:pt>
                  <c:pt idx="9">
                    <c:v>Rate limiter y caché compartidos</c:v>
                  </c:pt>
                  <c:pt idx="10">
                    <c:v>Corrección región del Scheduler</c:v>
                  </c:pt>
                  <c:pt idx="11">
                    <c:v>Embeddings multilingües + reindexado</c:v>
                  </c:pt>
                  <c:pt idx="12">
                    <c:v>Reglas de Firestore (firestore.rules)</c:v>
                  </c:pt>
                  <c:pt idx="13">
                    <c:v>Autenticación en endpoints de lectura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Fase 3 (S16–S18)</c:v>
                </c:pt>
              </c:strCache>
            </c:strRef>
          </c:tx>
          <c:spPr>
            <a:solidFill>
              <a:srgbClr val="0B3D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Documentación final, demo y cierre</c:v>
                  </c:pt>
                  <c:pt idx="1">
                    <c:v>Validación de brechas con Encipharm/Alloxentric</c:v>
                  </c:pt>
                  <c:pt idx="2">
                    <c:v>Pruebas funcionales end-to-end y validación</c:v>
                  </c:pt>
                  <c:pt idx="3">
                    <c:v>Cobertura de pruebas, safety scan, smoke tests</c:v>
                  </c:pt>
                  <c:pt idx="4">
                    <c:v>Filtrado de alertas por vigencia/idioma</c:v>
                  </c:pt>
                  <c:pt idx="5">
                    <c:v>Endurecimiento de agentes de scraping</c:v>
                  </c:pt>
                  <c:pt idx="6">
                    <c:v>Unificación del campo "rol"</c:v>
                  </c:pt>
                  <c:pt idx="7">
                    <c:v>Reemplazo del pickle del vector store</c:v>
                  </c:pt>
                  <c:pt idx="8">
                    <c:v>Ampliación de CORS a entorno de test</c:v>
                  </c:pt>
                  <c:pt idx="9">
                    <c:v>Rate limiter y caché compartidos</c:v>
                  </c:pt>
                  <c:pt idx="10">
                    <c:v>Corrección región del Scheduler</c:v>
                  </c:pt>
                  <c:pt idx="11">
                    <c:v>Embeddings multilingües + reindexado</c:v>
                  </c:pt>
                  <c:pt idx="12">
                    <c:v>Reglas de Firestore (firestore.rules)</c:v>
                  </c:pt>
                  <c:pt idx="13">
                    <c:v>Autenticación en endpoints de lectura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b"/>
        <c:majorGridlines>
          <c:spPr>
            <a:ln w="9525" cap="flat">
              <a:solidFill>
                <a:srgbClr val="DD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9"/>
                    </a:solidFill>
                    <a:latin typeface="Arial"/>
                  </a:rPr>
                  <a:t>Semana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5F8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724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a los tres integrantes, la carrera (Ingeniería en Informática, Sede San Joaquín) y aclarar que este es el Informe de Proyecto Fase 1 del ramo Capstone, para la empresa mandante Encipharm S.A., con la docente Claudia Reinoso.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las 10 secciones sin detenerse en cada una — el orden sigue la plantilla del informe entregado. Sirve para situar a la docente y a la empresa antes de entrar en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clave: Encipharm, 25+ años en salud/nutrición/bioseguridad animal; compite con multinacionales (Zoetis, Virbac) y laboratorios nacionales (Drag Pharma, Agrovet). Latencia manual actual: 1–7 días. Es proyecto de continuidad: el MVP fue aceptado el 9 de julio de 2026 mediante Acta de Entrega y Conformidad. Las 5 brechas documentadas en esa acta se confirmaron y ampliaron con un diagnóstico técnico propio del código real (27 hallazgos, 3 críticos) — es el puente hacia los Objetivos y el Plan de trabajo, que ya no son genéricos sino trazables a hallazgos concretos con archivo y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Nombre oficial completo por si lo piden: 'Enci-Intel: Plataforma de Inteligencia de Mercado con Agentes Autónomos de IA para Encipharm'. Enfatizar que el objetivo es consolidar, corregir y completar el MVP heredado — no construir desde cero — por eso el flujo de continuidad al pie de la diapositiva, que ahora incluye el diagnóstico técnico propio ya realizado.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competencias del perfil de egreso — superan el mínimo de 3 que exige la rúbrica. Basadas en la Guía de Definición de Proyecto APT, los Diarios de Reflexión Fase 1 de cada integrante y, ahora también, en el diagnóstico técnico realizado (aseguramiento de la calidad y gestión de proyectos se refuerzan con evidencia concreta: 27 hallazgos priorizados).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Felipe: programación y análisis de datos (cita textual de su diario de reflexión); ahora conectado directo con sus tareas del plan (auth, Scheduler, CORS, rol). Benjamín y Elías: automatización, documentación y calidad — conectados con las 10 correcciones P1-P3 de correctitud, escalabilidad y calidad del diagnóstico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semanas = 3 fases del ramo Capstone. Recursos ya heredados: proyecto GCP, documentación funcional/PRD/API de 22 endpoints, acceso a producción y repositorio. Novedad clave: ahora el diagnóstico técnico ya está hecho (27 hallazgos priorizados), lo que reduce mucho la incertidumbre de la Fase 1 — el equipo puede empezar a corregir desde la semana 1. Riesgo destacado: que Encipharm y Alloxentric no acompañen apropiadamente la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riesgos. El primero es nuevo y el único de nivel Alto: viene directo del diagnóstico técnico (los 3 hallazgos P0 de seguridad) — mientras no se corrijan, cualquiera en internet puede leer la inteligencia competitiva. Los otros 4 son de nivel Medio y ya estaban identificados antes del diagnóstico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objetivo general + 7 específicos, todos trazables directamente a hallazgos concretos del diagnóstico técnico (con archivo y línea de referencia) en lugar de una lista genérica. El sexto (cobertura de pruebas/CI) y el séptimo (validación con la empresa) cierran el ciclo hacia la entrega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etapas, metodología ágil Scrum/Kanban con sprints de ~2 semanas. La diferencia clave frente a un proyecto típico: la etapa 1 (diagnóstico) ya está completa gracias al análisis técnico propio, así que el equipo entra directo a corregir desde la etapa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definidos formalmente en la Guía APT, ahora con tareas concretas del diagnóstico técnico asignadas a cada uno: Benjamín (integración/QA) concentra la mayor carga — 5 actividades del plan, incluida la validación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evidencia de avance ya está completada — es literalmente el análisis técnico que se hizo. Vale la pena decirlo explícitamente si preguntan: 'esa evidencia ya la tenemos, no es una promesa a futuro'.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actividades. Cada una de las primeras 12 viene de un hallazgo específico del diagnóstico técnico (con archivo y línea de referencia); las 2 últimas son de cierre/validación con el equipo completo. El detalle semana a semana está en la Carta Gantt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semanas, 3 fases. A diferencia de un plan genérico, cada barra corresponde a un hallazgo específico del diagnóstico técnico. Fase 1 (S1–S4) concentra las correcciones P0 y el arranque de varias P1 en paralelo (Felipe, Benjamín y Elías trabajan simultáneamente desde la semana 1). Los 5 hitos bajo el gráfico son los puntos de control de avance que pide la rúbrica.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agradeciendo y abrir espacio a preguntas. El mensaje central: gracias al diagnóstico técnico ya realizado, el equipo no empieza la Fase 2 diagnosticando — empieza corrigiendo. Ver el anexo de preguntas frecuentes si se necesita apoyo.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respaldo, no proyectar salvo que la docente o la empresa hagan una de estas preguntas. La primera es la más probable dado que el plan cambió bastante respecto a la versión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  ·   CAPSTONE_300D   ·   SEDE SAN JOAQUÍN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ENCI-INTEL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063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Inteligencia de Mercado con Agentes Autónomos de IA para Encipharm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Proyecto — Fase 1 (Capstone)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617720"/>
            <a:ext cx="11185855" cy="1600200"/>
          </a:xfrm>
          <a:prstGeom prst="roundRect">
            <a:avLst>
              <a:gd name="adj" fmla="val 4571"/>
            </a:avLst>
          </a:prstGeom>
          <a:solidFill>
            <a:srgbClr val="0F2E47"/>
          </a:solidFill>
          <a:ln w="12700">
            <a:solidFill>
              <a:srgbClr val="1B4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474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Pumarino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 Sánchez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Ramos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4773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/ SEDE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50474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San Joaquín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4773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MANDANTE / DOCENTE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Encipharm S.A.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Gabriela Reinoso Hurtado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1508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problemática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5059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24048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346704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330098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con el perfil de egreso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" y="41970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intereses profesionales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" y="50932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48272" y="1508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generales y específicos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245059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264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24048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6480" y="3346704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330098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comprometidas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26480" y="424281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264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748272" y="41970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y Carta Gantt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26480" y="5138928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264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748272" y="50932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próximos pasos hacia Fase 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problemática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Encipharm S.A. — más de 25 años en salud, nutrición y bioseguridad animal — compite con multinacionales (Zoetis, Virbac) y laboratorios nacionales (Drag Pharma, Agrovet). Su inteligencia competitiva se recopila hoy de forma manual en planillas Excel.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52360" y="1371600"/>
            <a:ext cx="4233672" cy="1371600"/>
          </a:xfrm>
          <a:prstGeom prst="roundRect">
            <a:avLst>
              <a:gd name="adj" fmla="val 5333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52360" y="1481328"/>
            <a:ext cx="4233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– 7 días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048256"/>
            <a:ext cx="3867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latencia para detectar cambios de precio, nuevos registros ISP o desabastecimientos rivales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11185855" cy="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0906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de continuidad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56432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no parte desde cero: continúa el desarrollo de una cohorte anterior (Portafolio/Práctica). El MVP fue entregado y aceptado mediante Acta de Entrega y Conformidad, firmada el 9 de julio de 2026 por Max Kreimerman (Product Owner, Alloxentric) y el equipo saliente.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279392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documentadas en el acta de cierre de la cohorte anterior: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617720"/>
            <a:ext cx="210549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617720"/>
            <a:ext cx="192261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2 agentes productivos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73009" y="4617720"/>
            <a:ext cx="210549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64449" y="4617720"/>
            <a:ext cx="192261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Productos/Mercado con datos mock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43099" y="4617720"/>
            <a:ext cx="210549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34539" y="4617720"/>
            <a:ext cx="192261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de usuarios sin conectar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3188" y="4617720"/>
            <a:ext cx="210549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4628" y="4617720"/>
            <a:ext cx="192261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pruebas: solo 8 smoke tests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83278" y="4617720"/>
            <a:ext cx="210549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74718" y="4617720"/>
            <a:ext cx="192261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 servicio expuesta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FBEAE8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74243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i="1" dirty="0">
                <a:solidFill>
                  <a:srgbClr val="7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diagnóstico técnico independiente del código real, realizado el 2 de septiembre de 2026, confirmó y amplió estas brechas: 27 hallazgos priorizados (P0–P3), 3 de ellos críticos — ver Objetivos y Plan de trabajo.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DESCRIPCIÓN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"Enci-Intel: Plataforma de Inteligencia de Mercado con Agentes Autónomos de IA para Encipharm"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combina un enjambre de agentes de inteligencia artificial autónomos con una interfaz web para monitorear a la competencia y entregar alertas accionables al equipo comercial y a la gerencia de Encipharm.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5364328" cy="1828800"/>
          </a:xfrm>
          <a:prstGeom prst="roundRect">
            <a:avLst>
              <a:gd name="adj" fmla="val 4000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6324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(RESUMIDO)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01568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Consolidar, corregir y completar el MVP de ENCI-INTEL heredado, cerrando las brechas de calidad, integración y alcance identificadas en su documentación técnica de entrega.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4448" y="2880360"/>
            <a:ext cx="536432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306324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CONSISTE ABORDARLO?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3401568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construir desde cero: es diagnosticar el estado real del código y la documentación entregada, priorizar qué brechas cerrar, implementarlas y dejar evidencia formal de los cambios respecto a la versión recibida.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02920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CONTINUIDAD, NO REINICIO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440680"/>
            <a:ext cx="339333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" y="5550408"/>
            <a:ext cx="299100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heredado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" y="5879592"/>
            <a:ext cx="29910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código y documentación de la cohorte anterior.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877970" y="5733288"/>
            <a:ext cx="539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99178" y="5440680"/>
            <a:ext cx="339333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00346" y="5550408"/>
            <a:ext cx="299100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técnico propio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600346" y="5879592"/>
            <a:ext cx="29910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hallazgos priorizados P0–P3, ya realizado.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74229" y="5733288"/>
            <a:ext cx="539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95437" y="5440680"/>
            <a:ext cx="339333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96605" y="5550408"/>
            <a:ext cx="299100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y evidencia formal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496605" y="5879592"/>
            <a:ext cx="29910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documentados frente a la versión recibida.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PERFIL DE EGRESO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Vínculo con el perfil de egreso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4573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37360"/>
            <a:ext cx="384048" cy="38404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221992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desarrollo de software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715768"/>
            <a:ext cx="30336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sistemas (React/TS, FastAPI/Python)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978" y="1508760"/>
            <a:ext cx="354573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9010" y="1737360"/>
            <a:ext cx="384048" cy="38404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901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9010" y="2221992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aplicada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9010" y="2715768"/>
            <a:ext cx="30336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autónomos, RAG y modelos de lenguaje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3037" y="1508760"/>
            <a:ext cx="354573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9069" y="1737360"/>
            <a:ext cx="384048" cy="38404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9069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99069" y="2221992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 sistemas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99069" y="2715768"/>
            <a:ext cx="30336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y servicios cloud (Cloud Run, Firestore)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354573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3840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4325112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datos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818888"/>
            <a:ext cx="30336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negocio y toma de decisiones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2978" y="3611880"/>
            <a:ext cx="354573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9010" y="3840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901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9010" y="4325112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Aseguramiento de la calidad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9010" y="4818888"/>
            <a:ext cx="30336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técnica y automatización de pruebas (QA)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43037" y="3611880"/>
            <a:ext cx="354573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9069" y="3840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906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99069" y="4325112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proyectos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99069" y="4818888"/>
            <a:ext cx="30336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 hallazgos P0–P3 en un proyecto de continuidad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4864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del perfil de egreso identificadas según la Guía de Definición de Proyecto APT, los Diarios de Reflexión Fase 1 y el diagnóstico técnico realizado.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INTERESES PROFESIONALES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intereses profesionales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64328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3352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733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Felipe Ramos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60904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y análisis de datos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81528"/>
            <a:ext cx="4815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"Calza con mi interés en programación y análisis de datos."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30168"/>
            <a:ext cx="48156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profesional en programación / análisis de datos. El diagnóstico técnico le asigna directamente las correcciones backend priorizadas: autenticación, región del Scheduler, CORS y unificación del campo de rol.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4448" y="1417320"/>
            <a:ext cx="5364328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8768" y="1673352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98768" y="16733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· 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28600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Benjamín Pumarino &amp; Elías Sánchez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660904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Automatización, documentación y calidad de software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3081528"/>
            <a:ext cx="48156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Proyectan un escenario laboral en calidad de software y automatización de pruebas. El diagnóstico técnico (27 hallazgos, cobertura de pruebas insuficiente, CI/CD a mejorar) les da un terreno concreto para aplicar justo ese interés.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212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compartido por el desarrollo full-stack y arquitecturas cloud: trabajar sobre hallazgos técnicos reales, ya priorizados, permite desarrollar habilidades de análisis de código existente y toma de decisiones técnicas, en lugar de levantar todo desde cero.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FACTIBILIDAD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45738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91640"/>
            <a:ext cx="384048" cy="38404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1945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disponible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670048"/>
            <a:ext cx="303367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aprox. (3 fases de Capstone), compatibles con un desarrollo incremental sobre una base de código y arquitectura ya existentes.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2978" y="1463040"/>
            <a:ext cx="3545738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9010" y="1691640"/>
            <a:ext cx="384048" cy="38404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901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9010" y="21945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 y recursos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9010" y="2670048"/>
            <a:ext cx="303367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proyecto GCP heredados (Cloud Run, Scheduler, Tasks, Firestore, Secret Manager); documentación funcional, PRD, API de 22 endpoints y Acta de Entrega firmada; acceso a producción y repositorio; stack React/TS + FastAPI/Python + Firebase Auth + Gemini/Groq.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1463040"/>
            <a:ext cx="3545738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9069" y="1691640"/>
            <a:ext cx="384048" cy="38404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9069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99069" y="21945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externos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99069" y="2670048"/>
            <a:ext cx="303367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Facilitadores: diagnóstico técnico propio ya realizado (27 hallazgos priorizados y accionables), documentación funcional y PRD completos, alcance acotado. Dificultadores: cambios en portales externos (ISP, SAG/Aduanas, LinkedIn) y límites de cuota de IA generativa.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617720"/>
            <a:ext cx="11185855" cy="1417320"/>
          </a:xfrm>
          <a:prstGeom prst="roundRect">
            <a:avLst>
              <a:gd name="adj" fmla="val 4516"/>
            </a:avLst>
          </a:prstGeom>
          <a:solidFill>
            <a:srgbClr val="FDF3E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CLAVE A VIGILAR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029200"/>
            <a:ext cx="66138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Encipharm y Alloxentric (empresa que gestiona la relación con Encipharm como Product Owner) no acompañen apropiadamente el proceso de validación de las brechas priorizadas.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482535" y="50292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reuniones de validación tempranas y documentación formal de toda decisión de alcance.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FACTIBILIDAD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relevantes y mitigación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4480560"/>
        </p:xfrm>
        <a:graphic>
          <a:graphicData uri="http://schemas.openxmlformats.org/drawingml/2006/table">
            <a:tbl>
              <a:tblPr/>
              <a:tblGrid>
                <a:gridCol w="4297680"/>
                <a:gridCol w="1051560"/>
                <a:gridCol w="489204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Nivel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Mitigación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Persisten 3 hallazgos críticos de seguridad (P0) hasta que se implementen las correcciones: endpoints de lectura sin autenticación, ausencia de firestore.rules y región del Scheduler mal codificada.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3261E"/>
                          </a:solidFill>
                        </a:rPr>
                        <a:t>Alto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Corrección P0 programada como primera actividad del plan de trabajo (S1–S2), antes de cualquier otra tarea.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Que Encipharm no acompañe apropiadamente el proceso de validación de las brechas priorizadas.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8A5A00"/>
                          </a:solidFill>
                        </a:rPr>
                        <a:t>Medio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Agendar reuniones de validación tempranas y documentar todas las decisiones de alcance.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Falta de acceso o contexto sobre credenciales, decisiones técnicas o accesos GCP heredados.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8A5A00"/>
                          </a:solidFill>
                        </a:rPr>
                        <a:t>Medio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Solicitar handoff formal y revisar la documentación de cierre y el Acta de Entrega como fuente primaria.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Que las funcionalidades de Fase 2 (mejora opcional) se prioricen antes de cerrar las brechas del MVP ya aceptado.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8A5A00"/>
                          </a:solidFill>
                        </a:rPr>
                        <a:t>Medio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Priorizar siempre las brechas P0–P1 sobre el alcance aceptado antes de evaluar mejoras opcionales.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Cambios en la estructura de portales externos (ISP, SAG/Aduanas, LinkedIn) que rompan el scraping.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8A5A00"/>
                          </a:solidFill>
                        </a:rPr>
                        <a:t>Medio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7242E"/>
                          </a:solidFill>
                        </a:rPr>
                        <a:t>Usar datos de prueba/mocks y monitoreo de errores; priorizar APIs oficiales cuando existan.</a:t>
                      </a:r>
                      <a:endParaRPr lang="en-US" sz="108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OBJETIVOS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generales y específicos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01368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y robustecer el MVP de ENCI-INTEL heredado, cerrando las brechas críticas de seguridad, correctitud, escalabilidad y calidad confirmadas por el diagnóstico técnico independiente del 2 de septiembre de 2026, dentro del alcance formalmente aceptado en la Acta de Entrega del 9 de julio de 2026.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63240"/>
            <a:ext cx="5410048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los 3 hallazgos críticos de seguridad (P0): autenticación en endpoints de lectura, reglas de Firestore versionadas y la región mal codificada del Cloud Scheduler.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el nombre y los valores del campo "rol" entre backend, frontend y documentación.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el motor RAG a un modelo de embeddings multilingüe y reindexar el corpus en español.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pickle del vector store por un formato no ejecutable y mover el rate limiter y el caché a almacenamiento compartido entre instancias.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3063240"/>
            <a:ext cx="5410048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Endurecer los agentes de scraping (SAG y competidores) y completar el filtrado de alertas por vigencia (status/expires_at).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la cobertura de pruebas automatizadas, migrar a safety scan y sumar smoke tests de frontend.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Encipharm y Alloxentric el cierre de las brechas priorizadas y documentar el estado real del sistema al cierre del Capstone.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METODOLOGÍA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de trabajo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ágil (Scrum/Kanban) con sprints iterativos de aproximadamente 2 semanas, dada la naturaleza de continuidad del proyecto.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696669" cy="2331720"/>
          </a:xfrm>
          <a:prstGeom prst="roundRect">
            <a:avLst>
              <a:gd name="adj" fmla="val 3234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14223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142234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142234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realizado (2 sept. 2026): 27 hallazgos priorizados P0–P3, con archivo y línea de referencia.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2181301" y="3113532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00757" y="2148840"/>
            <a:ext cx="1696669" cy="2331720"/>
          </a:xfrm>
          <a:prstGeom prst="roundRect">
            <a:avLst>
              <a:gd name="adj" fmla="val 323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37917" y="2240280"/>
            <a:ext cx="14223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37917" y="2651760"/>
            <a:ext cx="142234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crítica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37917" y="3291840"/>
            <a:ext cx="142234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firestore.rules y región del Scheduler — antes de cualquier otra tarea.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4079138" y="3113532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8594" y="2148840"/>
            <a:ext cx="1696669" cy="2331720"/>
          </a:xfrm>
          <a:prstGeom prst="roundRect">
            <a:avLst>
              <a:gd name="adj" fmla="val 3234"/>
            </a:avLst>
          </a:prstGeom>
          <a:solidFill>
            <a:srgbClr val="0B3D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35754" y="2240280"/>
            <a:ext cx="14223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435754" y="2651760"/>
            <a:ext cx="142234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P1–P2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35754" y="3291840"/>
            <a:ext cx="142234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~2 semanas: embeddings multilingües, vector store, caché, scrapers, alertas.</a:t>
            </a:r>
            <a:endParaRPr lang="en-US" sz="920" dirty="0"/>
          </a:p>
        </p:txBody>
      </p:sp>
      <p:sp>
        <p:nvSpPr>
          <p:cNvPr id="19" name="Text 17"/>
          <p:cNvSpPr txBox="1"/>
          <p:nvPr/>
        </p:nvSpPr>
        <p:spPr>
          <a:xfrm>
            <a:off x="5976976" y="3113532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96432" y="2148840"/>
            <a:ext cx="1696669" cy="2331720"/>
          </a:xfrm>
          <a:prstGeom prst="roundRect">
            <a:avLst>
              <a:gd name="adj" fmla="val 3234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33592" y="2240280"/>
            <a:ext cx="14223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33592" y="2651760"/>
            <a:ext cx="142234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33592" y="3291840"/>
            <a:ext cx="142234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CI/CD con GitHub Actions hacia Cloud Run y pruebas automatizadas.</a:t>
            </a:r>
            <a:endParaRPr lang="en-US" sz="920" dirty="0"/>
          </a:p>
        </p:txBody>
      </p:sp>
      <p:sp>
        <p:nvSpPr>
          <p:cNvPr id="24" name="Text 22"/>
          <p:cNvSpPr txBox="1"/>
          <p:nvPr/>
        </p:nvSpPr>
        <p:spPr>
          <a:xfrm>
            <a:off x="7874813" y="3113532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94269" y="2148840"/>
            <a:ext cx="1696669" cy="2331720"/>
          </a:xfrm>
          <a:prstGeom prst="roundRect">
            <a:avLst>
              <a:gd name="adj" fmla="val 3234"/>
            </a:avLst>
          </a:prstGeom>
          <a:solidFill>
            <a:srgbClr val="0B3D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2240280"/>
            <a:ext cx="14223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651760"/>
            <a:ext cx="142234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3291840"/>
            <a:ext cx="142234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end-to-end y validación de brechas cerradas junto a Encipharm/Alloxentric.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9772650" y="3113532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92106" y="2148840"/>
            <a:ext cx="1696669" cy="2331720"/>
          </a:xfrm>
          <a:prstGeom prst="roundRect">
            <a:avLst>
              <a:gd name="adj" fmla="val 3234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29266" y="2240280"/>
            <a:ext cx="14223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0129266" y="2651760"/>
            <a:ext cx="142234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29266" y="3291840"/>
            <a:ext cx="142234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producción, medición de resultados y documentación final.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METODOLOGÍA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responsabilidades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roles según lo presentado formalmente en la Guía de Definición de Proyecto APT.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45738" cy="3566160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10029" y="219456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10029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63240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Benjamín Pumarino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56432"/>
            <a:ext cx="31799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sistemas y APIs / QA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308853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Firestore, caché/rate limiter compartidos, endurecimiento de scrapers, cobertura de pruebas y validación end-to-end.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22978" y="1965960"/>
            <a:ext cx="3545738" cy="3566160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30088" y="219456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3008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05858" y="3063240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Felipe Ramos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05858" y="3456432"/>
            <a:ext cx="31799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(backend)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51578" y="4023360"/>
            <a:ext cx="308853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en endpoints de lectura, región del Scheduler, CORS y unificación del campo de rol.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43037" y="1965960"/>
            <a:ext cx="3545738" cy="3566160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0146" y="219456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55014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25917" y="3063240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Elías Sánchez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25917" y="3456432"/>
            <a:ext cx="31799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e IA aplicada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71637" y="4023360"/>
            <a:ext cx="308853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multilingües del motor RAG, reemplazo del vector store y filtrado de alertas por vigencia/idioma.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EVIDENCIAS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comprometidas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4480560"/>
        </p:xfrm>
        <a:graphic>
          <a:graphicData uri="http://schemas.openxmlformats.org/drawingml/2006/table">
            <a:tbl>
              <a:tblPr/>
              <a:tblGrid>
                <a:gridCol w="914400"/>
                <a:gridCol w="2468880"/>
                <a:gridCol w="3794760"/>
                <a:gridCol w="3977640"/>
              </a:tblGrid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Justificación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</a:rPr>
                        <a:t>Avance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Diagnóstico técnico independiente (completado)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Análisis del código heredado: arquitectura de los 5 componentes, 27 hallazgos priorizados P0–P3 con archivo y línea de referencia — realizado el 2 de septiembre de 2026.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Ya entregado; permite iniciar las correcciones priorizadas desde la semana 1 en vez de dedicar la Fase 1 solo a diagnosticar.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</a:rPr>
                        <a:t>Avance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Prototipo funcional de mejoras desplegado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Despliegue en Cloud Run de al menos una corrección P0 (p. ej. autenticación en endpoints de lectura), funcionando de forma automatizada.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Evidencia un avance real y medible sobre los hallazgos críticos identificados.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Final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Módulos actualizados e integrados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Sistema actualizado con los 14 hallazgos/tareas priorizados implementados, según el alcance de continuidad.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Demuestra el cierre de las brechas comprometidas para esta etapa.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Final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Informe de resultados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Documenta el trabajo realizado, los hallazgos P0–P3 cerrados y los resultados obtenidos versus lo planificado.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Sustenta la evaluación final del Proyecto APT.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PLAN DE TRABAJO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actividades trazables a los hallazgos priorizados (P0–P3) del diagnóstico técnico, alineadas a los roles de la Guía APT.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5855" cy="4480560"/>
        </p:xfrm>
        <a:graphic>
          <a:graphicData uri="http://schemas.openxmlformats.org/drawingml/2006/table">
            <a:tbl>
              <a:tblPr/>
              <a:tblGrid>
                <a:gridCol w="6858000"/>
                <a:gridCol w="1645920"/>
                <a:gridCol w="2651760"/>
              </a:tblGrid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Duración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Autenticación en endpoints de lectura (dashboard/alerts/agents)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2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Felipe Ramos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Versionar reglas de Firestore (firestore.rules)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2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Benjamín Pumarino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Embeddings multilingües y reindexado del corpus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3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Elías Sánchez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Corrección de la región del Scheduler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1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Felipe Ramos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Rate limiter y caché en almacenamiento compartido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3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Benjamín Pumarino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Ampliación de CORS al entorno de test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1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Felipe Ramos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Reemplazo del pickle del vector store (+ locking)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2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Elías Sánchez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Unificación del campo "rol"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2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Felipe Ramos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Endurecimiento de los agentes de scraping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2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Benjamín Pumarino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Filtrado de alertas por vigencia e idioma en el RAG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2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Elías Sánchez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Cobertura de pruebas, safety scan y smoke tests frontend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3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Benjamín Pumarino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Pruebas funcionales end-to-end y validación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3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Benjamín Pumarino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Validación de brechas cerradas con Encipharm/Alloxentric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2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Todo el equipo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Documentación final, demo y cierre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3D5C"/>
                          </a:solidFill>
                        </a:rPr>
                        <a:t>3 sem.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</a:rPr>
                        <a:t>Todo el equipo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PLAN DE TRABAJO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 — 18 semanas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11185855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349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CLAVE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5650992"/>
            <a:ext cx="2090867" cy="749808"/>
          </a:xfrm>
          <a:prstGeom prst="roundRect">
            <a:avLst>
              <a:gd name="adj" fmla="val 7317"/>
            </a:avLst>
          </a:prstGeom>
          <a:solidFill>
            <a:srgbClr val="EEF3F6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" y="5705856"/>
            <a:ext cx="18348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0936" y="5943600"/>
            <a:ext cx="18348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corregidos: autenticación y reglas de Firestore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2776667" y="5650992"/>
            <a:ext cx="2090867" cy="749808"/>
          </a:xfrm>
          <a:prstGeom prst="roundRect">
            <a:avLst>
              <a:gd name="adj" fmla="val 7317"/>
            </a:avLst>
          </a:prstGeom>
          <a:solidFill>
            <a:srgbClr val="EEF3F6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04683" y="5705856"/>
            <a:ext cx="18348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04683" y="5943600"/>
            <a:ext cx="18348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seguro y caché/rate limiter compartidos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50414" y="5650992"/>
            <a:ext cx="2090867" cy="749808"/>
          </a:xfrm>
          <a:prstGeom prst="roundRect">
            <a:avLst>
              <a:gd name="adj" fmla="val 7317"/>
            </a:avLst>
          </a:prstGeom>
          <a:solidFill>
            <a:srgbClr val="EEF3F6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78430" y="5705856"/>
            <a:ext cx="18348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178430" y="5943600"/>
            <a:ext cx="18348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 endurecidos y alertas filtradas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7324161" y="5650992"/>
            <a:ext cx="2090867" cy="749808"/>
          </a:xfrm>
          <a:prstGeom prst="roundRect">
            <a:avLst>
              <a:gd name="adj" fmla="val 7317"/>
            </a:avLst>
          </a:prstGeom>
          <a:solidFill>
            <a:srgbClr val="EEF3F6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2177" y="5705856"/>
            <a:ext cx="18348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452177" y="5943600"/>
            <a:ext cx="18348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pruebas y CI/CD actualizados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9597908" y="5650992"/>
            <a:ext cx="2090867" cy="749808"/>
          </a:xfrm>
          <a:prstGeom prst="roundRect">
            <a:avLst>
              <a:gd name="adj" fmla="val 7317"/>
            </a:avLst>
          </a:prstGeom>
          <a:solidFill>
            <a:srgbClr val="EEF3F6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25924" y="5705856"/>
            <a:ext cx="18348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725924" y="5943600"/>
            <a:ext cx="18348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demo final y validación con la empresa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474720" cy="3474720"/>
          </a:xfrm>
          <a:prstGeom prst="ellipse">
            <a:avLst/>
          </a:prstGeom>
          <a:solidFill>
            <a:srgbClr val="0B3D5C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CIERRE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hacia Fase 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1645920"/>
            <a:ext cx="10500055" cy="914400"/>
          </a:xfrm>
          <a:prstGeom prst="roundRect">
            <a:avLst>
              <a:gd name="adj" fmla="val 6000"/>
            </a:avLst>
          </a:prstGeom>
          <a:solidFill>
            <a:srgbClr val="0F2E47"/>
          </a:solidFill>
          <a:ln w="12700">
            <a:solidFill>
              <a:srgbClr val="1B4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1645920"/>
            <a:ext cx="10042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de inmediato la corrección de los 3 hallazgos P0 (autenticación, firestore.rules, región del Scheduler) — ya diagnosticados y priorizados, listos para implementarse desde la semana 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8720" y="2697480"/>
            <a:ext cx="10500055" cy="914400"/>
          </a:xfrm>
          <a:prstGeom prst="roundRect">
            <a:avLst>
              <a:gd name="adj" fmla="val 6000"/>
            </a:avLst>
          </a:prstGeom>
          <a:solidFill>
            <a:srgbClr val="0F2E47"/>
          </a:solidFill>
          <a:ln w="12700">
            <a:solidFill>
              <a:srgbClr val="1B4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2697480"/>
            <a:ext cx="10042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con las correcciones P1–P2 (embeddings multilingües, vector store seguro, caché compartido, scrapers) según el plan de trabajo y la Carta Gantt.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3749040"/>
            <a:ext cx="10500055" cy="914400"/>
          </a:xfrm>
          <a:prstGeom prst="roundRect">
            <a:avLst>
              <a:gd name="adj" fmla="val 6000"/>
            </a:avLst>
          </a:prstGeom>
          <a:solidFill>
            <a:srgbClr val="0F2E47"/>
          </a:solidFill>
          <a:ln w="12700">
            <a:solidFill>
              <a:srgbClr val="1B4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3749040"/>
            <a:ext cx="10042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Encipharm y Alloxentric el cierre de las brechas priorizadas, y proponer las funcionalidades de Fase 2 como mejora opcional posterior.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1B4A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5257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8064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disponibles para responder consultas de la docente y de la empresa mandante respecto al diagnóstico técnico, las brechas priorizadas y la distribución de roles presentada.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MATERIAL DE RESPALDO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32908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600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81912"/>
            <a:ext cx="45185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plan de trabajo cambió respecto a lo presentado inicialmente?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286000"/>
            <a:ext cx="49939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contar con un diagnóstico técnico independiente del código real (27 hallazgos, cada uno con archivo y línea de referencia), el plan se reconstruyó a partir de esos hallazgos priorizados (P0–P3) en vez de una lista genérica de brechas. Esto permite empezar a corregir desde la semana 1, no solo diagnosticar.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55868" y="1417320"/>
            <a:ext cx="5432908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5324" y="1600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532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1668" y="1581912"/>
            <a:ext cx="45185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se reincorporan los 5 agentes originales si la Guía APT lo planteaba?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75324" y="2286000"/>
            <a:ext cx="49939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vigente y formalmente aceptado es el reducido (2 agentes + módulos definidos), según el Acta de Entrega y Conformidad del 9 de julio de 2026, firmada por Alloxentric como Product Owner. Reincorporar los 5 agentes queda como mejora opcional de Fase 2.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432908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4114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96512"/>
            <a:ext cx="45185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Encipharm o Alloxentric no acompañan apropiadamente la validación?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22376" y="4800600"/>
            <a:ext cx="49939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riesgo de nivel Medio identificado en Factibilidad. Se mitiga agendando reuniones de validación tempranas y documentando formalmente cada decisión de alcance.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55868" y="3931920"/>
            <a:ext cx="5432908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5324" y="4114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5324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1668" y="4096512"/>
            <a:ext cx="45185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prioriza entre cerrar hallazgos del diagnóstico y avanzar en Fase 2?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4800600"/>
            <a:ext cx="49939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P0 y P1 sobre el alcance ya aceptado siempre van primero. Fase 2 (Análisis de Productos, Mapa Competitivo) se evalúa y propone a Encipharm solo como mejora opcional posterior.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1 · Anexo (material de apoyo)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2026-09-03T04:37:50Z</dcterms:created>
  <dcterms:modified xsi:type="dcterms:W3CDTF">2026-09-03T04:37:50Z</dcterms:modified>
</cp:coreProperties>
</file>