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77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15 s. Saludar, presentar a los tres integrantes con su rol y mencionar a la docente. Sección CAPSTONE_300D y URL de los repositorios ya incluidas. IE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45 s. Resumen grupal en ambos idiomas, de 80 a 120 palabras cada uno (versión en español: unas 117 palabras; en inglés: unas 108). No leerlo completo: destacar el problema (latencias de 1 a 7 días), el Hito 1 cumplido el 29 de septiembre y lo pendiente. Es un resumen más corto que los abstracts del informe; conviene verificar el conteo en Word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 min. Una sola slide de contexto: problema, objetivo general, usuarios y alcance del MVP. Encipharm es una empresa chilena con más de 25 años en salud, nutrición y bioseguridad animal; compite con Zoetis, Virbac, Drag Pharma y Agrovet. La métrica principal es el Tiempo de Respuesta Competitiva (meta: menos de 4 horas). Nota para el equipo: la descripción de usuarios es una lectura del informe (alertas consumidas desde Enci-Ventas); confirmarla con la docente o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1,5 min. IE 1 (10%). Tabla con cuatro columnas: observación recibida, ajuste realizado, origen (dificultad, facilitador o retroalimentación docente) y justificación. Se muestran 5 de los 10 ajustes del informe; elegir los que se van a contar en voz alta. Importante: en el informe varias filas dicen «[Completar con la retroalimentación docente que originó el ajuste]». Antes de presentar, reemplazar el origen y la observación por la retroalimentación concreta de la docente en cada hito (es lo que más pide el IE 1 y lo que las autoevaluaciones marcan como mejora).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1,5 min. IE 2 (10%). Hay que mostrar evidencia de que la metodología se aplicó, no solo su definición: en ágil, sprints ejecutados, captura del tablero y burndown. El informe documenta el enfoque (sprints de 1 a 2 semanas alineados a los hitos, backlog priorizado, revisión y retrospectiva, reunión semanal con la docente) y el resultado (A1 a A9 y el Hito 1 completados el 29 de septiembre), pero no trae el número de sprints, la captura del tablero ni el burndown. Completar los tres recuadros antes de presentar: número de sprints, captura del tablero o de los issues de GitHub y burndown (el Anexo B del informe también los pide).Tiempo: 1,5 min. IE 2 (10%). Evidencia de que la metodología se aplicó: backlog priorizado, sprints alineados a los hitos, revisión y retrospectiva, reunión semanal con la docente y el tablero Kanban (17 tareas hechas, 1 en revisión, 1 en progreso, 10 en backlog). Verificar la cifra «17 sprints»: el tablero muestra 17 tareas hechas, y con sprints de 1 a 2 semanas desde el 27 de julio no cuadran 17 sprints; confirmar antes de presentar. Falta el burndown del último sprint si se quiere mostrar (el Anexo B también lo pide).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 min. IE 1 e IE 2. Estados según la guía 2.4: Completado, En curso, Con retraso, No iniciado, Ajustada. El informe no declara ninguna actividad con retraso, así que la columna de causas explica los pendientes y el ajuste de alcance de A12. Atención: A10 estaba planificada de S10 a S13 y figura como pendiente en el informe; si ya empezó, pasarla a En curso antes de presentar. Semanas contadas desde el 27 de julio de 2026 (S1); Hito 1 en S10, Hito 2 en S14 y Hito 3 en S17–S18.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 min. IE 3 (25%). Diagrama de componentes y comunicación entre servicios. Desde el 14 de agosto de 2026 Enci-Intel y Enci-Ventas viven en un monorepo y Enci-Ventas consume a Enci-Intel mediante un proxy con autenticación servicio a servicio (JWT y API key). El backend de Intel orquesta los dos agentes con APScheduler, guarda datos de mercado en MongoDB Atlas, vectores en Qdrant (embeddings de NVIDIA NIM), y usa Redis para caché y limitación de tasa. Qué ya corre en Docker: el ambiente local de 9 contenedores; el proyecto completo con un solo comando es el entregable del Hito 2. El diagrama es una simplificación; ajustarlo si el equipo prefiere mostrar otras conexiones.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 min. IE 3. La suite usa cuatro almacenes con responsabilidades separadas para escalar por componente: MongoDB Atlas (documental, Enci-Intel), Supabase con PostgreSQL y pgvector (relacional, Enci-Ventas), Qdrant (vectores) y Redis. Mostrar lo implementado, no solo lo diseñado: seeds reproducibles en Atlas y Supabase, migraciones Alembic reversibles y la colección vectorial de 2048 dimensiones. Importante: el informe todavía no trae el diagrama del modelo (Anexo D) y las tres autoevaluaciones lo marcan como el principal faltante del indicador 3.1. Insertar aquí el diagrama (ER para Supabase y modelo documental para MongoDB) y, si se puede, una captura de Atlas y Supabase con datos de demostración (Anexo A-4).Tiempo: 1 min. IE 3. Cuatro almacenes con responsabilidades separadas: MongoDB Atlas (documental, Enci-Intel), Supabase con PostgreSQL y pgvector (Enci-Ventas), Qdrant (vectores) y Redis. Mostrar lo implementado: la captura de Atlas muestra el clúster con las colecciones de enci_intel y 404 documentos en sag_productos; seeds reproducibles y migraciones Alembic reversibles. Falta aún el diagrama del Anexo D (ER para Supabase y modelo documental para MongoDB); es lo que las autoevaluaciones marcan como faltante del indicador 3.1.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2,5 min (demo de 2 min o video de respaldo). IE 3. La diapositiva pide historias o requerimientos terminados contra el backlog total (por ejemplo «9 de 22 HU, 41%»). Los documentos no traen el conteo de historias de usuario; lo que sí hay es el plan de 14 actividades, de las cuales 9 están completadas (64%). Completar el recuadro amarillo con el conteo real del backlog (o borrarlo si se prefiere mostrar solo actividades). Guion sugerido de la demo: 1) iniciar sesión en Enci-Intel; 2) ejecutar un agente con «Ejecutar ahora» (agent-sag); 3) mostrar las alertas generadas y su vista en Enci-Ventas; 4) hacer una pregunta real al asistente RAG. Recordar que el plan gratuito de Render duerme tras unos 15 minutos y tarda 30 a 60 s en despertar: abrir la app antes de la demo, o usar el video de respaldo.Tiempo: 2,5 min (demo de 2 min o video de respaldo). IE 3. Hay 9 de 14 actividades del plan completadas (64%) y los 5 hallazgos críticos de la auditoría corregidos. Falta el conteo de historias de usuario del backlog si quieren mostrarlo (por ejemplo «9 de 22 HU»). Guion sugerido de la demo: 1) iniciar sesión en Enci-Intel; 2) ejecutar un agente con «Ejecutar ahora»; 3) mostrar las alertas y su vista en Enci-Ventas; 4) hacer una pregunta real al asistente RAG. El plan gratuito de Render duerme tras unos 15 minutos y tarda 30 a 60 s en despertar: abrir la app antes de la demo, o usar el video de respaldo. Las capturas de Vercel y Render muestran el deploy público en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45 s. IE 3 e IE 6. El enunciado pide los artefactos según el Anexo del Instructivo: Product Vision o SRS, backlog, documento de diseño, plan de pruebas y README. No tengo ese Anexo, así que la lista sigue los documentos que aparecen en el informe y en las autoevaluaciones; renombrar cada fila con los nombres exactos del Anexo y verificar que cada archivo exista en el repositorio. Si el equipo tiene un SRS o Product Vision propio, reemplazar la primera fila. El plan de pruebas y el manual de instalación aún no existen: decirlo con claridad y con fecha (Hito 2 y Hito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 min. IE 3 e indicadores de calidad 1.1 y 1.2. Las cuatro suites suman 226 pruebas (90 + 96 + 33 + 7) y se ejecutan en GitHub Actions con un job por área en cada push y solicitud de cambio; los frameworks son pytest, node --test y Vitest. Las pruebas fallan al reintroducir el bug que cubren. Verificar antes de presentar: (1) la autoevaluación de Elías cita 79 pruebas en el backend de Intel y el informe dice 90; usar la cifra vigente del repositorio; (2) la cobertura mínima de 80% y el lint salen de la autoevaluación de Elías (ci.yml); confirmar que aplican a todas las áreas; (3) completar la convención de código y el linter usados.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45 s. IE 6 (20%). Mostrar la estructura de carpetas y nombres según lo solicitado, las ramas y el README con los elementos del Anexo 2. El árbol está armado con las rutas que aparecen en el informe y las autoevaluaciones (Enci-Intel/Backend, Enci-Ventas/Backend, Enci-Ventas/docs/plan-integracion-ers.md, Enci-Ventas/PENDING_FEATURES.md, .github/workflows/ci.yml); comprobar el árbol real del repositorio y reemplazarlo si difiere. Idealmente cambiar esta slide por una captura de GitHub con las ramas y el README abierto. Completar la URL.Tiempo: 45 s. IE 6 (20%). Estructura del monorepo Encipharm, ramas por actividad con solicitudes de cambio y CI en .github/workflows/ci.yml. El árbol sale de las rutas que aparecen en el informe y las autoevaluaciones; comprobar contra el repositorio real. Verificar que el README tenga los elementos del Anexo 2. Repositorio: https://github.com/Pipo9308/Encipharm.git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 min. IE 7 (15%). Gráfico de contributors más una tabla por integrante con commits, PRs, issues cerrados y módulo a cargo. Los módulos salen del plan de trabajo del informe (Tabla 6) y de las autoevaluaciones. Los commits, PRs e issues no están en ningún documento: copiar las cifras desde GitHub (Insights › Contributors y pestañas de PRs e issues) y pegar la captura del gráfico. Las dos autoevaluaciones de Elías y Benjamín piden confirmar sus aportes contra el historial de GitHub; hacerlo antes de presentar. Como hay actividades compartidas (A2, A5), conviene aclarar quién hizo qué.Tiempo: 1 min. IE 7 (15%). La captura muestra el historial de commits en GitHub. Completar commits, PRs e issues cerrados por integrante desde GitHub Insights › Contributors y pegar el gráfico si se quiere. Los módulos salen del plan de trabajo (Tabla 6 del informe) y de las autoevaluaciones; aclarar quién hizo qué en A2 y A5, que son compartidas.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45 s. IE 1. Los tres riesgos principales con su mitigación, tomados de la Tabla 8 del informe: seguridad pendiente, datos (scraping y corpus) y dependencias externas. Lo comprometido para la semana 15 sale del plan de trabajo: Hito 2 en S14 (26 al 31 de octubre), con A10 hasta S13, A11 hasta S14, A12 hasta S14 y A13 hasta S15. Otros riesgos del informe, por si preguntan: antivirus que interceptan TLS en equipos Windows, falta de la guía de requerimientos de la empresa para ventas y plazo corto entre hitos (una semana efectiva por hito). Ajustar la lista de compromisos si el equipo acordó algo distinto con la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 min en total, unos 20 s por integrante. Cada uno dice su conclusión en inglés, con sus propias palabras; el texto resume las conclusiones individuales del informe (sección 4). Una o dos ideas por persona: practicar la pronunciación de «end to end», «mockup» y «rate limiter». Cada integrante puede cerrar con su próximo paso: Felipe, docker compose único y entrega final; Elías, motor de recomendaciones y documentación final; Benjamín, cierre de los 18 hallazgos y pruebas finales.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 8. Dejar visibles los datos de contacto y los enlaces a los repositorios durante las preguntas. Preguntas probables: por qué se migró de GCP a MongoDB Atlas, cómo se mide el Tiempo de Respuesta Competitiva, qué pasa con los 18 hallazgos pendientes y por qué se descartó el scraping de Agrovet y Zoetis Chile.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· Avance Fase 2 · Grupo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· Avance Fase 2 · Grupo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7C4D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po9308/Encipharm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ALLOXENTRIC-GIT/Encipharm.gi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po9308/Encipharm.gi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ipo9308/Encipharm.git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Be.Pumarino@duocuc.cl" TargetMode="External"/><Relationship Id="rId5" Type="http://schemas.openxmlformats.org/officeDocument/2006/relationships/hyperlink" Target="mailto:Elia.sanchez@duocuc.cl" TargetMode="External"/><Relationship Id="rId4" Type="http://schemas.openxmlformats.org/officeDocument/2006/relationships/hyperlink" Target="mailto:Feli.ramos@duocuc.cl" TargetMode="External"/><Relationship Id="rId9" Type="http://schemas.openxmlformats.org/officeDocument/2006/relationships/hyperlink" Target="https://github.com/ALLOXENTRIC-GIT/Encipharm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822960"/>
            <a:ext cx="1280160" cy="54864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 flipV="1">
            <a:off x="10607040" y="640080"/>
            <a:ext cx="731520" cy="73152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 flipV="1">
            <a:off x="10058400" y="1371600"/>
            <a:ext cx="548640" cy="109728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0058400" y="2468880"/>
            <a:ext cx="1371600" cy="18288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 flipV="1">
            <a:off x="9144000" y="2468880"/>
            <a:ext cx="914400" cy="36576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1338560" y="640080"/>
            <a:ext cx="91440" cy="201168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9198864" y="694944"/>
            <a:ext cx="256032" cy="256032"/>
          </a:xfrm>
          <a:prstGeom prst="ellipse">
            <a:avLst/>
          </a:prstGeom>
          <a:solidFill>
            <a:srgbClr val="2A4A66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10479024" y="1243584"/>
            <a:ext cx="256032" cy="256032"/>
          </a:xfrm>
          <a:prstGeom prst="ellipse">
            <a:avLst/>
          </a:prstGeom>
          <a:solidFill>
            <a:srgbClr val="4FD1C0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11210544" y="512064"/>
            <a:ext cx="256032" cy="256032"/>
          </a:xfrm>
          <a:prstGeom prst="ellipse">
            <a:avLst/>
          </a:prstGeom>
          <a:solidFill>
            <a:srgbClr val="2A4A66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9930384" y="2340864"/>
            <a:ext cx="256032" cy="256032"/>
          </a:xfrm>
          <a:prstGeom prst="ellipse">
            <a:avLst/>
          </a:prstGeom>
          <a:solidFill>
            <a:srgbClr val="4FD1C0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11301984" y="2523744"/>
            <a:ext cx="256032" cy="256032"/>
          </a:xfrm>
          <a:prstGeom prst="ellipse">
            <a:avLst/>
          </a:prstGeom>
          <a:solidFill>
            <a:srgbClr val="2A4A66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9015984" y="2706624"/>
            <a:ext cx="256032" cy="256032"/>
          </a:xfrm>
          <a:prstGeom prst="ellipse">
            <a:avLst/>
          </a:prstGeom>
          <a:solidFill>
            <a:srgbClr val="4FD1C0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4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DUOC UC · SEDE SAN JOAQUÍN · CAPSTONE · INFORME DE AVANCE FASE 2</a:t>
            </a:r>
            <a:endParaRPr lang="en-US" sz="1200" dirty="0"/>
          </a:p>
        </p:txBody>
      </p:sp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</a:t>
            </a:r>
            <a:endParaRPr lang="en-US" sz="6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Inteligencia de Mercado con Agentes Autónomos de IA para Encipharm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6263B"/>
          </a:solidFill>
          <a:ln w="952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777240" y="4187952"/>
            <a:ext cx="640080" cy="640080"/>
          </a:xfrm>
          <a:prstGeom prst="ellipse">
            <a:avLst/>
          </a:prstGeom>
          <a:solidFill>
            <a:srgbClr val="4FD1C0"/>
          </a:solidFill>
          <a:ln w="12700">
            <a:solidFill>
              <a:srgbClr val="4FD1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 txBox="1"/>
          <p:nvPr/>
        </p:nvSpPr>
        <p:spPr>
          <a:xfrm>
            <a:off x="77724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Ramos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498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infraestructura y seguridad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297680" y="3931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6263B"/>
          </a:solidFill>
          <a:ln w="952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4526280" y="4187952"/>
            <a:ext cx="640080" cy="640080"/>
          </a:xfrm>
          <a:prstGeom prst="ellipse">
            <a:avLst/>
          </a:prstGeom>
          <a:solidFill>
            <a:srgbClr val="4FD1C0"/>
          </a:solidFill>
          <a:ln w="12700">
            <a:solidFill>
              <a:srgbClr val="4FD1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 txBox="1"/>
          <p:nvPr/>
        </p:nvSpPr>
        <p:spPr>
          <a:xfrm>
            <a:off x="452628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34924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Sánchez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4498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aplicada, datos e integración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46720" y="3931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6263B"/>
          </a:solidFill>
          <a:ln w="952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8275320" y="4187952"/>
            <a:ext cx="640080" cy="640080"/>
          </a:xfrm>
          <a:prstGeom prst="ellipse">
            <a:avLst/>
          </a:prstGeom>
          <a:solidFill>
            <a:srgbClr val="4FD1C0"/>
          </a:solidFill>
          <a:ln w="12700">
            <a:solidFill>
              <a:srgbClr val="4FD1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 txBox="1"/>
          <p:nvPr/>
        </p:nvSpPr>
        <p:spPr>
          <a:xfrm>
            <a:off x="827532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09828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Pumarino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4498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auditoría y pruebas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77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Sección CAPSTONE_300D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Claudia Gabriela Reinoso Hurtado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760720" y="5577840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4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Encipharm: </a:t>
            </a:r>
            <a:r>
              <a:rPr lang="en-US" sz="14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https://github.com/Pipo9308/Encipharm.git</a:t>
            </a:r>
            <a:endParaRPr lang="en-US" sz="140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4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originales: </a:t>
            </a:r>
            <a:r>
              <a:rPr lang="en-US" sz="14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https://github.com/ALLOXENTRIC-GIT/Encipharm.git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· Abstract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7667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28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es una plataforma de inteligencia de mercado con agentes autónomos de IA que reemplaza el seguimiento manual de la competencia en planillas Excel de Encipharm, con latencias de 1 a 7 días. Este avance documenta la Fase 2: migración a MongoDB Atlas con JWT propio, RAG con Qdrant y embeddings de 2048 dimensiones, Redis y agentes con APScheduler, bajo una metodología Scrum/Kanban. Al 29 de septiembre de 2026 se cumplió el Hito 1: MVP con bases de datos operativas, deploy público, ambiente local de 9 contenedores y pruebas con integración continua. Se corrigieron los 5 hallazgos críticos de seguridad. Quedan el proyecto completo en Docker, 18 hallazgos y la medición de la meta de 4 horas.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37667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377440"/>
            <a:ext cx="4828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is a market intelligence platform with autonomous AI agents that replaces Encipharm’s manual competitor tracking in Excel spreadsheets, which caused delays of one to seven days. This report documents Phase 2: migration to MongoDB Atlas with our own JWT authentication, a RAG assistant with Qdrant and 2048-dimension embeddings, Redis, and agents scheduled with APScheduler, under a Scrum/Kanban methodology. As of September 29, 2026, Milestone 1 was achieved: an MVP with operational databases, a public deployment, a nine-container local environment, and automated tests with continuous integration. The five critical security findings were fixed. Pending work includes the fully containerized project, 18 open findings, and measuring the four-hour goal.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del proyecto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0136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4231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competencia de Encipharm se seguía a mano en planillas Excel: detectar cambios de precios, nuevos registros del SAG o desabastecimientos tardaba de 1 a 7 días.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6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8013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948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6446520" y="24231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Enci-Intel en la suite Encipharm, operativa, en Docker, segura y documentada, para bajar el Tiempo de Respuesta Competitiva a </a:t>
            </a:r>
            <a:r>
              <a:rPr lang="en-US" sz="16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4 horas</a:t>
            </a: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0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27024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22960" y="48920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comercial y de inteligencia competitiva de Encipharm, que recibe alertas y consulta al asistente desde Enci-Intel y Enci-Ventas.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4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27024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6948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MVP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48920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agentes de scraping (agent-sag y agent-competidores), asistente RAG, alertas, integración con Enci-Ventas, Docker y deploy público.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de la Fase 1 y ajustes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 recibida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realizado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1 de la docente: MVP con base de datos operativa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GCP a MongoDB Atlas con JWT propio, APScheduler y deploy en Vercel + Render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 docente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ARCHITECTURE.md heredado confundía el contexto; se elimina la dependencia de GCP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local de 716 MB excedía la memoria de Render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de 384 dim. reemplazados por NVIDIA NIM de 2048 dim. con Qdrant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Dificultad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multilingüe compatible con Qdrant; búsqueda corregida a query_points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auditoría halló endpoints de lectura abiertos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o API key de servicio en lecturas; CORS configurable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Dificultad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los 5 hallazgos críticos y verifica el proxy Enci-Ventas ↔ Enci-Intel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Agrovet y Zoetis Chile sin RSS, API ni noticias locales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de A12 acotado; scraping de ambos descartado por ahora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Dificultad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agent-sag ya cubre a los tres competidores; evita un scraping frágil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limitador de tasa estaba desactivado en silencio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compartido (Upstash); el limitador falla cerrado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Patrón ya resuelto en Enci-Ventas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10 ajustes completos están en la Tabla 1 del informe. </a:t>
            </a: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completar: </a:t>
            </a: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la retroalimentación docente de cada hito.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aplicada: Scrum/Kanban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55778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2"/>
          <p:cNvSpPr txBox="1"/>
          <p:nvPr/>
        </p:nvSpPr>
        <p:spPr>
          <a:xfrm>
            <a:off x="8229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aplicó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2057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 desde ONBOARDING.md, la auditoría de julio y PENDING_FEATURES.md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1 a 2 semanas alineados a los tres hitos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auditoría como tareas Kanban cortas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retrospectiva por sprint; reunión semanal con la docente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438912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 txBox="1"/>
          <p:nvPr/>
        </p:nvSpPr>
        <p:spPr>
          <a:xfrm>
            <a:off x="685800" y="4572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440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completadas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468880" y="438912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 txBox="1"/>
          <p:nvPr/>
        </p:nvSpPr>
        <p:spPr>
          <a:xfrm>
            <a:off x="2606040" y="4572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29/09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2606040" y="5440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cumplido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89120" y="438912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 txBox="1"/>
          <p:nvPr/>
        </p:nvSpPr>
        <p:spPr>
          <a:xfrm>
            <a:off x="4526280" y="4572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440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ejecutados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355080" y="1371600"/>
            <a:ext cx="5285232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8" name="Image 0" descr="Tablero Kanban del proyecto Encipha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63040"/>
            <a:ext cx="5102352" cy="44897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605332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Kanban: 17 hechas · 1 en revisión · 1 en progreso · 10 en backlog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plan de trabajo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 txBox="1"/>
          <p:nvPr/>
        </p:nvSpPr>
        <p:spPr>
          <a:xfrm>
            <a:off x="82296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29 DE SEPTIEMBRE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14</a:t>
            </a:r>
            <a:endParaRPr lang="en-US" sz="5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completadas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Completado:</a:t>
            </a:r>
            <a:r>
              <a:rPr lang="en-US" sz="16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 a A9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 curso:</a:t>
            </a:r>
            <a:r>
              <a:rPr lang="en-US" sz="16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A12 y A13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 iniciado:</a:t>
            </a:r>
            <a:r>
              <a:rPr lang="en-US" sz="16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A10, A11 y A14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 retraso</a:t>
            </a:r>
            <a:r>
              <a:rPr lang="en-US" sz="16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declarado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Ajustada:</a:t>
            </a:r>
            <a:r>
              <a:rPr lang="en-US" sz="16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A12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371600"/>
          <a:ext cx="7296912" cy="9144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o nota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Seguridad e integración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verificar los orígenes CORS finales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 Cierre de hallazgos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iniciado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pendientes; planificada S10–S13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A11 Proyecto completo en Docker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iniciado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2: 26 al 31 de octubre (S12–S14)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A12 Ampliación del scraping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 · Ajustada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acotado: Agrovet y Zoetis Chile sin fuente estable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A13 Recomendaciones y alertas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Parcial; depende de los datos que pueble A12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 Pruebas finales y entrega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iniciado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3: 16 al 28 de noviembre (S16–S18)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343400" y="5806440"/>
            <a:ext cx="7296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retrasos declarados en el informe. A1 a A5 y A7 a A9 completadas (A5 con correcciones posteriores).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actual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B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ENCI-VENTAS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38328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B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ENCI-INTEL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B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Y SERVICIOS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AA5A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68580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Enci-Ventas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94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web React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AA5A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68580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Ventas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proxy a Intel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AA5A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 txBox="1"/>
          <p:nvPr/>
        </p:nvSpPr>
        <p:spPr>
          <a:xfrm>
            <a:off x="68580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572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83280" y="17373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DCEFEA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 txBox="1"/>
          <p:nvPr/>
        </p:nvSpPr>
        <p:spPr>
          <a:xfrm>
            <a:off x="352044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2194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React/TypeScript · Vercel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383280" y="292608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DCEFEA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 txBox="1"/>
          <p:nvPr/>
        </p:nvSpPr>
        <p:spPr>
          <a:xfrm>
            <a:off x="352044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JWT · APScheduler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83280" y="411480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DCEFEA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 txBox="1"/>
          <p:nvPr/>
        </p:nvSpPr>
        <p:spPr>
          <a:xfrm>
            <a:off x="352044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4572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agent-sag · agent-competidores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17920" y="17373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E9ECEA"/>
          </a:solidFill>
          <a:ln w="12700">
            <a:solidFill>
              <a:srgbClr val="9AA5A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 txBox="1"/>
          <p:nvPr/>
        </p:nvSpPr>
        <p:spPr>
          <a:xfrm>
            <a:off x="635508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2194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mercado, alertas, usuarios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292608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E9ECEA"/>
          </a:solidFill>
          <a:ln w="12700">
            <a:solidFill>
              <a:srgbClr val="9AA5A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 txBox="1"/>
          <p:nvPr/>
        </p:nvSpPr>
        <p:spPr>
          <a:xfrm>
            <a:off x="635508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2048 dim. (RAG)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17920" y="411480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E9ECEA"/>
          </a:solidFill>
          <a:ln w="12700">
            <a:solidFill>
              <a:srgbClr val="9AA5A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 txBox="1"/>
          <p:nvPr/>
        </p:nvSpPr>
        <p:spPr>
          <a:xfrm>
            <a:off x="635508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(Upstash)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355080" y="4572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y limitador de tasa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217920" y="5303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E9ECEA"/>
          </a:solidFill>
          <a:ln w="12700">
            <a:solidFill>
              <a:srgbClr val="9AA5A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 txBox="1"/>
          <p:nvPr/>
        </p:nvSpPr>
        <p:spPr>
          <a:xfrm>
            <a:off x="6355080" y="5394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355080" y="5760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y LLM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668780" y="2606040"/>
            <a:ext cx="0" cy="32004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5"/>
          <p:cNvSpPr/>
          <p:nvPr/>
        </p:nvSpPr>
        <p:spPr>
          <a:xfrm>
            <a:off x="1668780" y="3794760"/>
            <a:ext cx="0" cy="32004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6"/>
          <p:cNvSpPr/>
          <p:nvPr/>
        </p:nvSpPr>
        <p:spPr>
          <a:xfrm>
            <a:off x="2788920" y="3360420"/>
            <a:ext cx="594360" cy="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7"/>
          <p:cNvSpPr/>
          <p:nvPr/>
        </p:nvSpPr>
        <p:spPr>
          <a:xfrm>
            <a:off x="4503420" y="2606040"/>
            <a:ext cx="0" cy="32004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8"/>
          <p:cNvSpPr/>
          <p:nvPr/>
        </p:nvSpPr>
        <p:spPr>
          <a:xfrm>
            <a:off x="4503420" y="3794760"/>
            <a:ext cx="0" cy="32004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head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39"/>
          <p:cNvSpPr/>
          <p:nvPr/>
        </p:nvSpPr>
        <p:spPr>
          <a:xfrm>
            <a:off x="5623560" y="3360420"/>
            <a:ext cx="297180" cy="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0"/>
          <p:cNvSpPr/>
          <p:nvPr/>
        </p:nvSpPr>
        <p:spPr>
          <a:xfrm>
            <a:off x="5920740" y="2171700"/>
            <a:ext cx="0" cy="356616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1"/>
          <p:cNvSpPr/>
          <p:nvPr/>
        </p:nvSpPr>
        <p:spPr>
          <a:xfrm>
            <a:off x="5920740" y="2171700"/>
            <a:ext cx="297180" cy="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2"/>
          <p:cNvSpPr/>
          <p:nvPr/>
        </p:nvSpPr>
        <p:spPr>
          <a:xfrm>
            <a:off x="5920740" y="3360420"/>
            <a:ext cx="297180" cy="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6" name="Shape 43"/>
          <p:cNvSpPr/>
          <p:nvPr/>
        </p:nvSpPr>
        <p:spPr>
          <a:xfrm>
            <a:off x="5920740" y="4549140"/>
            <a:ext cx="297180" cy="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7" name="Shape 44"/>
          <p:cNvSpPr/>
          <p:nvPr/>
        </p:nvSpPr>
        <p:spPr>
          <a:xfrm>
            <a:off x="5920740" y="5737860"/>
            <a:ext cx="297180" cy="0"/>
          </a:xfrm>
          <a:prstGeom prst="line">
            <a:avLst/>
          </a:prstGeom>
          <a:noFill/>
          <a:ln w="19050">
            <a:solidFill>
              <a:srgbClr val="14202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8" name="Shape 45"/>
          <p:cNvSpPr/>
          <p:nvPr/>
        </p:nvSpPr>
        <p:spPr>
          <a:xfrm>
            <a:off x="8823960" y="1371600"/>
            <a:ext cx="2816352" cy="4846320"/>
          </a:xfrm>
          <a:prstGeom prst="roundRect">
            <a:avLst>
              <a:gd name="adj" fmla="val 3247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6"/>
          <p:cNvSpPr txBox="1"/>
          <p:nvPr/>
        </p:nvSpPr>
        <p:spPr>
          <a:xfrm>
            <a:off x="905256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corre en Docker</a:t>
            </a:r>
            <a:endParaRPr lang="en-US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9052560" y="2148840"/>
            <a:ext cx="2377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contenedores </a:t>
            </a: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ambiente local, incluidos Qdrant, intel-qdrant e intel-redis.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público </a:t>
            </a: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Vercel + Render, con Upstash y Qdrant Cloud.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(Hito 2, 26 al 31 de octubre): </a:t>
            </a:r>
            <a:r>
              <a:rPr lang="en-US" sz="15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proyecto con un solo docker compose up desde la raíz.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implementado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2"/>
          <p:cNvSpPr txBox="1"/>
          <p:nvPr/>
        </p:nvSpPr>
        <p:spPr>
          <a:xfrm>
            <a:off x="731520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Enci-Intel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1762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competitor_news, market_share, import_trends, positioning_matrix, products, alertas y usuarios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0906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Implementado: </a:t>
            </a: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Motor y seeds de demostración reproducibles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64992" y="137160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3547872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Enci-Ventas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547872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1762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CRM de ventas en PostgreSQL con pgvector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0906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Implementado: </a:t>
            </a: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Alembic reversibles y scripts de seed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81344" y="137160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 txBox="1"/>
          <p:nvPr/>
        </p:nvSpPr>
        <p:spPr>
          <a:xfrm>
            <a:off x="6364224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Enci-Intel (RAG)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364224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364224" y="21762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2048 dimensiones generados con NVIDIA NIM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364224" y="30906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Implementado: </a:t>
            </a: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consultada con query_points, local y en Qdrant Cloud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997696" y="137160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 txBox="1"/>
          <p:nvPr/>
        </p:nvSpPr>
        <p:spPr>
          <a:xfrm>
            <a:off x="9180576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Ambos productos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180576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9180576" y="21762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y contadores de limitación de tasa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180576" y="30906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Implementado: </a:t>
            </a: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en la nube; el limitador falla cerrado si Redis no responde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416052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0" descr="MongoDB Atlas con la base enci_intel y la colección sag_producto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" y="4233672"/>
            <a:ext cx="5522976" cy="1956816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446520" y="4160520"/>
            <a:ext cx="5193792" cy="2103120"/>
          </a:xfrm>
          <a:prstGeom prst="roundRect">
            <a:avLst>
              <a:gd name="adj" fmla="val 4348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3"/>
          <p:cNvSpPr txBox="1"/>
          <p:nvPr/>
        </p:nvSpPr>
        <p:spPr>
          <a:xfrm>
            <a:off x="667512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en MongoDB Atlas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6675120" y="47548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enci_intel con 404 documentos en sag_productos y las colecciones de mercado creadas.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(A12): </a:t>
            </a:r>
            <a:r>
              <a:rPr lang="en-US" sz="14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poblar market_share, import_trends, positioning_matrix y products; falta el diagrama del Anexo D.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desarrolladas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2"/>
          <p:cNvSpPr txBox="1"/>
          <p:nvPr/>
        </p:nvSpPr>
        <p:spPr>
          <a:xfrm>
            <a:off x="7772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14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2514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del plan completadas (64%)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374904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 txBox="1"/>
          <p:nvPr/>
        </p:nvSpPr>
        <p:spPr>
          <a:xfrm>
            <a:off x="77724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5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4572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críticos corregidos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794760" y="137160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 txBox="1"/>
          <p:nvPr/>
        </p:nvSpPr>
        <p:spPr>
          <a:xfrm>
            <a:off x="40233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Funcionando hoy</a:t>
            </a:r>
            <a:endParaRPr lang="en-US" sz="2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13055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34840" y="2057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RAG responde consultas reales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7706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34840" y="26974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ejecutables con el botón «Ejecutar ahora»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41071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434840" y="3337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fichas SAG en Enci-Ventas (Flutter y web)</a:t>
            </a:r>
            <a:endParaRPr lang="en-US" sz="15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05079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434840" y="3977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protegidas con JWT o API key de servicio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690872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434840" y="4617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público en Vercel + Render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8183880" y="1371600"/>
            <a:ext cx="345643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4" name="Image 5" descr="Vercel: despliegue en producción (Read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435608"/>
            <a:ext cx="3328416" cy="141732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183880" y="295351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Vercel: despliegue en producción (Ready)</a:t>
            </a:r>
            <a:endParaRPr lang="en-US" sz="1100" dirty="0"/>
          </a:p>
        </p:txBody>
      </p:sp>
      <p:sp>
        <p:nvSpPr>
          <p:cNvPr id="26" name="Shape 16"/>
          <p:cNvSpPr/>
          <p:nvPr/>
        </p:nvSpPr>
        <p:spPr>
          <a:xfrm>
            <a:off x="8183880" y="3154680"/>
            <a:ext cx="34564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7" name="Image 6" descr="Render: encipharm-intel-api en línea (Docker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218688"/>
            <a:ext cx="3328416" cy="1572768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183880" y="48920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Render: encipharm-intel-api en línea (Docker)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producida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 txBox="1"/>
          <p:nvPr/>
        </p:nvSpPr>
        <p:spPr>
          <a:xfrm>
            <a:off x="77724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y plan del proyecto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01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APT, plan A1–A14 y Carta Gantt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71907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4663440" y="171907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 txBox="1"/>
          <p:nvPr/>
        </p:nvSpPr>
        <p:spPr>
          <a:xfrm>
            <a:off x="640080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901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ONBOARDING.md y PENDING_FEATURES.md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287000" y="171907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 txBox="1"/>
          <p:nvPr/>
        </p:nvSpPr>
        <p:spPr>
          <a:xfrm>
            <a:off x="10287000" y="171907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60604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77724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diseño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1363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Encipharm y plan de integración con el 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295351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 txBox="1"/>
          <p:nvPr/>
        </p:nvSpPr>
        <p:spPr>
          <a:xfrm>
            <a:off x="4663440" y="29535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2200" y="260604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 txBox="1"/>
          <p:nvPr/>
        </p:nvSpPr>
        <p:spPr>
          <a:xfrm>
            <a:off x="640080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auditoría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1363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críticos, 7 altos y 18 hallazgos pendientes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287000" y="295351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 txBox="1"/>
          <p:nvPr/>
        </p:nvSpPr>
        <p:spPr>
          <a:xfrm>
            <a:off x="10287000" y="29535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 txBox="1"/>
          <p:nvPr/>
        </p:nvSpPr>
        <p:spPr>
          <a:xfrm>
            <a:off x="77724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370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monorepo; ARCHITECTURE.md heredado por actualizar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663440" y="418795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 txBox="1"/>
          <p:nvPr/>
        </p:nvSpPr>
        <p:spPr>
          <a:xfrm>
            <a:off x="4663440" y="418795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72200" y="384048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 txBox="1"/>
          <p:nvPr/>
        </p:nvSpPr>
        <p:spPr>
          <a:xfrm>
            <a:off x="640080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QA manual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4370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E6, previsto para el Hito 3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0287000" y="418795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D3D8D6"/>
          </a:solidFill>
          <a:ln w="12700">
            <a:solidFill>
              <a:srgbClr val="D3D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 txBox="1"/>
          <p:nvPr/>
        </p:nvSpPr>
        <p:spPr>
          <a:xfrm>
            <a:off x="10287000" y="418795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07492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 txBox="1"/>
          <p:nvPr/>
        </p:nvSpPr>
        <p:spPr>
          <a:xfrm>
            <a:off x="777240" y="5212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instalación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" y="5605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traspaso actualizada (E7, Hito 3)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663440" y="542239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D3D8D6"/>
          </a:solidFill>
          <a:ln w="12700">
            <a:solidFill>
              <a:srgbClr val="D3D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 txBox="1"/>
          <p:nvPr/>
        </p:nvSpPr>
        <p:spPr>
          <a:xfrm>
            <a:off x="4663440" y="54223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172200" y="507492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7"/>
          <p:cNvSpPr txBox="1"/>
          <p:nvPr/>
        </p:nvSpPr>
        <p:spPr>
          <a:xfrm>
            <a:off x="6400800" y="5212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y secretos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0" y="5605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docker compose up (Hito 2)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0287000" y="542239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D3D8D6"/>
          </a:solidFill>
          <a:ln w="12700">
            <a:solidFill>
              <a:srgbClr val="D3D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 txBox="1"/>
          <p:nvPr/>
        </p:nvSpPr>
        <p:spPr>
          <a:xfrm>
            <a:off x="10287000" y="54223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estándares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 txBox="1"/>
          <p:nvPr/>
        </p:nvSpPr>
        <p:spPr>
          <a:xfrm>
            <a:off x="77724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el backend de Enci-Intel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64992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3593592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3593592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el backend de Enci-Ventas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81344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6409944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6409944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el frontend de Enci-Ventas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97696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 txBox="1"/>
          <p:nvPr/>
        </p:nvSpPr>
        <p:spPr>
          <a:xfrm>
            <a:off x="9226296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9226296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el frontend de Enci-Intel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67665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 txBox="1"/>
          <p:nvPr/>
        </p:nvSpPr>
        <p:spPr>
          <a:xfrm>
            <a:off x="822960" y="34930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pruebas automáticas, 4 suites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023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regresión por cada bug corregido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con un job por área: lint, cobertura mínima 80% y migraciones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por actividad y solicitudes de cambio (PR)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de código y linter: [completar]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543800" y="3337560"/>
            <a:ext cx="4096512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 txBox="1"/>
          <p:nvPr/>
        </p:nvSpPr>
        <p:spPr>
          <a:xfrm>
            <a:off x="7818120" y="3493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cerrar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402336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 Flutter sin confirmar en verde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hallazgos de auditoría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pruebas de frontend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2"/>
          <p:cNvSpPr txBox="1"/>
          <p:nvPr/>
        </p:nvSpPr>
        <p:spPr>
          <a:xfrm>
            <a:off x="822960" y="1645920"/>
            <a:ext cx="4572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4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Encipharm/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5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Enci-Intel/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B7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Backend/    FastAPI, tests/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B7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Frontend/   React/TS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5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Enci-Ventas/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B7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Backend/    FastAPI, tests/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B7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docs/plan-integracion-ers.md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B7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PENDING_FEATURES.md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5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.github/workflows/ci.yml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5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897880" y="1371600"/>
            <a:ext cx="57424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 txBox="1"/>
          <p:nvPr/>
        </p:nvSpPr>
        <p:spPr>
          <a:xfrm>
            <a:off x="6126480" y="14813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unificado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18745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y Enci-Ventas conviven desde el 14 de agosto de 2026; el historial sigue en los repositorios originales.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897880" y="2743200"/>
            <a:ext cx="57424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6126480" y="28529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y cambios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3246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por actividad, solicitudes de cambio y CI en GitHub Actions con un job por área.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97880" y="4114800"/>
            <a:ext cx="57424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 txBox="1"/>
          <p:nvPr/>
        </p:nvSpPr>
        <p:spPr>
          <a:xfrm>
            <a:off x="6126480" y="42245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y nombres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46177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README tenga los elementos del Anexo 2 y que carpetas y nombres sigan lo solicitado.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97880" y="5486400"/>
            <a:ext cx="5742432" cy="731520"/>
          </a:xfrm>
          <a:prstGeom prst="roundRect">
            <a:avLst>
              <a:gd name="adj" fmla="val 12500"/>
            </a:avLst>
          </a:prstGeom>
          <a:solidFill>
            <a:srgbClr val="DCEFEA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 txBox="1"/>
          <p:nvPr/>
        </p:nvSpPr>
        <p:spPr>
          <a:xfrm>
            <a:off x="612648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 </a:t>
            </a:r>
            <a:r>
              <a:rPr lang="en-US" sz="1400" u="sng" dirty="0">
                <a:solidFill>
                  <a:srgbClr val="0B6E6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https://github.com/Pipo9308/Encipharm.git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por integrante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a cargo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Felipe Ramos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Backend, Docker y seguridad: A2, A5, A6, A7 y A9 (Supabase)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Elías Sánchez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RAG, agentes IA y alertas: A3, A5 y A13; integración con Ventas y CI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Benjamín Pumarino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Redis, auditoría y pruebas: A1, A2, A4, A8, A10 y A12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548640" y="3611880"/>
            <a:ext cx="47548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Historial de commits en GitHu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" y="3685032"/>
            <a:ext cx="4608576" cy="233172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21792" y="601675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commits en GitHub</a:t>
            </a:r>
            <a:endParaRPr lang="en-US" sz="1100" dirty="0"/>
          </a:p>
        </p:txBody>
      </p:sp>
      <p:sp>
        <p:nvSpPr>
          <p:cNvPr id="9" name="Shape 3"/>
          <p:cNvSpPr/>
          <p:nvPr/>
        </p:nvSpPr>
        <p:spPr>
          <a:xfrm>
            <a:off x="5532120" y="3611880"/>
            <a:ext cx="6108192" cy="2651760"/>
          </a:xfrm>
          <a:prstGeom prst="roundRect">
            <a:avLst>
              <a:gd name="adj" fmla="val 3448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4"/>
          <p:cNvSpPr txBox="1"/>
          <p:nvPr/>
        </p:nvSpPr>
        <p:spPr>
          <a:xfrm>
            <a:off x="5806440" y="38404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ve en el historial</a:t>
            </a:r>
            <a:endParaRPr lang="en-US" sz="2000" dirty="0"/>
          </a:p>
        </p:txBody>
      </p:sp>
      <p:sp>
        <p:nvSpPr>
          <p:cNvPr id="11" name="Text 5"/>
          <p:cNvSpPr txBox="1"/>
          <p:nvPr/>
        </p:nvSpPr>
        <p:spPr>
          <a:xfrm>
            <a:off x="5806440" y="434340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ElíasSanchezM: feat(intel), feat(ventas-api), feat(flutter), CI con lint y cobertura, fixes de CORS y calendario.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Pipo9308: changelog del primer deploy público, rewrite SPA para Vercel y RAG con embeddings por API.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PRs e issues por integrante: completar desde Insights › Contributors.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plan al informe final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7040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508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hallazgos de auditoría abiertos y credenciales de Supabase y Atlas sin rotar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945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los cierra con prueba de regresión, primero los medio-altos; se rotan las credenciales y se revisa el acceso 0.0.0.0/0 de Atlas.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7040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54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frágil y sin corpus documental validado por el cliente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840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A12 acotado a fuentes estables (agent-sag) y corpus solicitado a Encipharm para el asistente RAG.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663440"/>
            <a:ext cx="7040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 txBox="1"/>
          <p:nvPr/>
        </p:nvSpPr>
        <p:spPr>
          <a:xfrm>
            <a:off x="7772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48006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 pago sin saldo y plan gratuito de Render que duerme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5486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configurable por entorno; el entregable es docker compose up y el deploy en línea es complementario.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818120" y="1371600"/>
            <a:ext cx="3822192" cy="4800600"/>
          </a:xfrm>
          <a:prstGeom prst="roundRect">
            <a:avLst>
              <a:gd name="adj" fmla="val 2392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 txBox="1"/>
          <p:nvPr/>
        </p:nvSpPr>
        <p:spPr>
          <a:xfrm>
            <a:off x="809244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Comprometido para la semana 15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2377440"/>
            <a:ext cx="3337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2: hallazgos cerrados (A10) y todo el proyecto con un solo docker compose up (A11)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de Flutter en verde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de mercado pobladas (A12) y recomendaciones con datos reales (A13)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datos y retroalimentación docente en el informe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individuales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93592" cy="484632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Ramos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integration is not finished until it is verified end to end: our endpoints were open and the proxy had never been tested with both backends running together.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the whole project will start with a single docker compose command.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93592" cy="484632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 txBox="1"/>
          <p:nvPr/>
        </p:nvSpPr>
        <p:spPr>
          <a:xfrm>
            <a:off x="4572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Sánchez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606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choices depend on real limits: the local embedding model exceeded Render’s memory, and a Qdrant search method had to change.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client-validated corpus, data quality remains our main risk.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6720" y="1371600"/>
            <a:ext cx="3593592" cy="484632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D9DE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rgbClr val="0B6E64"/>
          </a:solidFill>
          <a:ln w="12700">
            <a:solidFill>
              <a:srgbClr val="0B6E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 txBox="1"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Pumarino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606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documentation is a risk: reading the real code first showed what worked and what was only a mockup.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limiter that fails silently is worse than having none.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326880" y="822960"/>
            <a:ext cx="1280160" cy="54864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 flipV="1">
            <a:off x="10607040" y="640080"/>
            <a:ext cx="731520" cy="73152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 flipV="1">
            <a:off x="10058400" y="1371600"/>
            <a:ext cx="548640" cy="109728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10058400" y="2468880"/>
            <a:ext cx="1371600" cy="18288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 flipV="1">
            <a:off x="9144000" y="2468880"/>
            <a:ext cx="914400" cy="36576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1338560" y="640080"/>
            <a:ext cx="91440" cy="2011680"/>
          </a:xfrm>
          <a:prstGeom prst="line">
            <a:avLst/>
          </a:prstGeom>
          <a:noFill/>
          <a:ln w="1587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9198864" y="694944"/>
            <a:ext cx="256032" cy="256032"/>
          </a:xfrm>
          <a:prstGeom prst="ellipse">
            <a:avLst/>
          </a:prstGeom>
          <a:solidFill>
            <a:srgbClr val="2A4A66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10479024" y="1243584"/>
            <a:ext cx="256032" cy="256032"/>
          </a:xfrm>
          <a:prstGeom prst="ellipse">
            <a:avLst/>
          </a:prstGeom>
          <a:solidFill>
            <a:srgbClr val="4FD1C0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11210544" y="512064"/>
            <a:ext cx="256032" cy="256032"/>
          </a:xfrm>
          <a:prstGeom prst="ellipse">
            <a:avLst/>
          </a:prstGeom>
          <a:solidFill>
            <a:srgbClr val="2A4A66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9930384" y="2340864"/>
            <a:ext cx="256032" cy="256032"/>
          </a:xfrm>
          <a:prstGeom prst="ellipse">
            <a:avLst/>
          </a:prstGeom>
          <a:solidFill>
            <a:srgbClr val="4FD1C0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11301984" y="2523744"/>
            <a:ext cx="256032" cy="256032"/>
          </a:xfrm>
          <a:prstGeom prst="ellipse">
            <a:avLst/>
          </a:prstGeom>
          <a:solidFill>
            <a:srgbClr val="2A4A66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9015984" y="2706624"/>
            <a:ext cx="256032" cy="256032"/>
          </a:xfrm>
          <a:prstGeom prst="ellipse">
            <a:avLst/>
          </a:prstGeom>
          <a:solidFill>
            <a:srgbClr val="4FD1C0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4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ENCI-INTEL · GRUPO 1</a:t>
            </a:r>
            <a:endParaRPr lang="en-US" sz="1200" dirty="0"/>
          </a:p>
        </p:txBody>
      </p:sp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6600" dirty="0"/>
          </a:p>
        </p:txBody>
      </p:sp>
      <p:sp>
        <p:nvSpPr>
          <p:cNvPr id="17" name="Shape 14"/>
          <p:cNvSpPr/>
          <p:nvPr/>
        </p:nvSpPr>
        <p:spPr>
          <a:xfrm>
            <a:off x="548640" y="329184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16263B"/>
          </a:solidFill>
          <a:ln w="952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2588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Ramos</a:t>
            </a:r>
            <a:endParaRPr lang="en-US" sz="1800" dirty="0"/>
          </a:p>
        </p:txBody>
      </p:sp>
      <p:sp>
        <p:nvSpPr>
          <p:cNvPr id="20" name="Text 16">
            <a:hlinkClick r:id="rId4"/>
          </p:cNvPr>
          <p:cNvSpPr txBox="1"/>
          <p:nvPr/>
        </p:nvSpPr>
        <p:spPr>
          <a:xfrm>
            <a:off x="82296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Feli.ramos@duocuc.cl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297680" y="329184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16263B"/>
          </a:solidFill>
          <a:ln w="952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1188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7492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Sánchez</a:t>
            </a:r>
            <a:endParaRPr lang="en-US" sz="1800" dirty="0"/>
          </a:p>
        </p:txBody>
      </p:sp>
      <p:sp>
        <p:nvSpPr>
          <p:cNvPr id="24" name="Text 19">
            <a:hlinkClick r:id="rId5"/>
          </p:cNvPr>
          <p:cNvSpPr txBox="1"/>
          <p:nvPr/>
        </p:nvSpPr>
        <p:spPr>
          <a:xfrm>
            <a:off x="457200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Elia.sanchez@duocuc.cl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046720" y="329184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16263B"/>
          </a:solidFill>
          <a:ln w="9525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1188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82396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Pumarino</a:t>
            </a:r>
            <a:endParaRPr lang="en-US" sz="1800" dirty="0"/>
          </a:p>
        </p:txBody>
      </p:sp>
      <p:sp>
        <p:nvSpPr>
          <p:cNvPr id="28" name="Text 22">
            <a:hlinkClick r:id="rId6"/>
          </p:cNvPr>
          <p:cNvSpPr txBox="1"/>
          <p:nvPr/>
        </p:nvSpPr>
        <p:spPr>
          <a:xfrm>
            <a:off x="832104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Be.Pumarino@duocuc.cl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07492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4983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Encipharm: </a:t>
            </a:r>
            <a:r>
              <a:rPr lang="en-US" sz="16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https://github.com/Pipo9308/Encipharm.git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7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originales: </a:t>
            </a:r>
            <a:r>
              <a:rPr lang="en-US" sz="16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https://github.com/ALLOXENTRIC-GIT/Encipharm.git</a:t>
            </a:r>
            <a:endParaRPr lang="en-US" sz="16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7C4D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4494</Words>
  <Application>Microsoft Office PowerPoint</Application>
  <PresentationFormat>Panorámica</PresentationFormat>
  <Paragraphs>337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Enci-Intel</vt:lpstr>
      <vt:lpstr>Resumen · Abstract</vt:lpstr>
      <vt:lpstr>Recordatorio del proyecto</vt:lpstr>
      <vt:lpstr>Retroalimentación de la Fase 1 y ajustes</vt:lpstr>
      <vt:lpstr>Metodología aplicada: Scrum/Kanban</vt:lpstr>
      <vt:lpstr>Estado del plan de trabajo</vt:lpstr>
      <vt:lpstr>Arquitectura actual</vt:lpstr>
      <vt:lpstr>Modelo de datos implementado</vt:lpstr>
      <vt:lpstr>Funcionalidades desarrolladas</vt:lpstr>
      <vt:lpstr>Documentación producida</vt:lpstr>
      <vt:lpstr>Calidad y estándares</vt:lpstr>
      <vt:lpstr>Repositorio Git</vt:lpstr>
      <vt:lpstr>Aporte por integrante</vt:lpstr>
      <vt:lpstr>Riesgos y plan al informe final</vt:lpstr>
      <vt:lpstr>Conclusiones individuales</vt:lpstr>
      <vt:lpstr>Preguntas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Enci-Intel – Presentación de Avance Fase 2</dc:title>
  <dc:subject>PptxGenJS Presentation</dc:subject>
  <dc:creator>Grupo 1</dc:creator>
  <cp:lastModifiedBy>Benjamin Pumarino</cp:lastModifiedBy>
  <cp:revision>2</cp:revision>
  <dcterms:created xsi:type="dcterms:W3CDTF">2026-10-15T16:04:06Z</dcterms:created>
  <dcterms:modified xsi:type="dcterms:W3CDTF">2026-10-15T16:07:18Z</dcterms:modified>
</cp:coreProperties>
</file>