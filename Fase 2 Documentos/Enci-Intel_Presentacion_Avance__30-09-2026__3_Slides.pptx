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A2838C-5B57-45AC-9A0F-4A50B8A493BF}" v="2" dt="2026-10-01T13:09:50.3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16" y="-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in Pumarino" userId="726d8df3-d59e-4542-b051-b3e4df386949" providerId="ADAL" clId="{3374A53B-D9C2-4818-BD03-DCF003B68F24}"/>
    <pc:docChg chg="custSel addSld modSld">
      <pc:chgData name="Benjamin Pumarino" userId="726d8df3-d59e-4542-b051-b3e4df386949" providerId="ADAL" clId="{3374A53B-D9C2-4818-BD03-DCF003B68F24}" dt="2026-10-01T13:11:59.937" v="149" actId="20577"/>
      <pc:docMkLst>
        <pc:docMk/>
      </pc:docMkLst>
      <pc:sldChg chg="modSp mod">
        <pc:chgData name="Benjamin Pumarino" userId="726d8df3-d59e-4542-b051-b3e4df386949" providerId="ADAL" clId="{3374A53B-D9C2-4818-BD03-DCF003B68F24}" dt="2026-10-01T13:11:47.278" v="145" actId="20577"/>
        <pc:sldMkLst>
          <pc:docMk/>
          <pc:sldMk cId="0" sldId="256"/>
        </pc:sldMkLst>
        <pc:spChg chg="mod">
          <ac:chgData name="Benjamin Pumarino" userId="726d8df3-d59e-4542-b051-b3e4df386949" providerId="ADAL" clId="{3374A53B-D9C2-4818-BD03-DCF003B68F24}" dt="2026-10-01T13:11:47.278" v="145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Benjamin Pumarino" userId="726d8df3-d59e-4542-b051-b3e4df386949" providerId="ADAL" clId="{3374A53B-D9C2-4818-BD03-DCF003B68F24}" dt="2026-10-01T13:11:52.666" v="147" actId="20577"/>
        <pc:sldMkLst>
          <pc:docMk/>
          <pc:sldMk cId="0" sldId="257"/>
        </pc:sldMkLst>
        <pc:spChg chg="mod">
          <ac:chgData name="Benjamin Pumarino" userId="726d8df3-d59e-4542-b051-b3e4df386949" providerId="ADAL" clId="{3374A53B-D9C2-4818-BD03-DCF003B68F24}" dt="2026-10-01T13:11:52.666" v="147" actId="20577"/>
          <ac:spMkLst>
            <pc:docMk/>
            <pc:sldMk cId="0" sldId="257"/>
            <ac:spMk id="4" creationId="{00000000-0000-0000-0000-000000000000}"/>
          </ac:spMkLst>
        </pc:spChg>
      </pc:sldChg>
      <pc:sldChg chg="addSp delSp modSp mod">
        <pc:chgData name="Benjamin Pumarino" userId="726d8df3-d59e-4542-b051-b3e4df386949" providerId="ADAL" clId="{3374A53B-D9C2-4818-BD03-DCF003B68F24}" dt="2026-10-01T13:11:59.937" v="149" actId="20577"/>
        <pc:sldMkLst>
          <pc:docMk/>
          <pc:sldMk cId="0" sldId="258"/>
        </pc:sldMkLst>
        <pc:spChg chg="mod">
          <ac:chgData name="Benjamin Pumarino" userId="726d8df3-d59e-4542-b051-b3e4df386949" providerId="ADAL" clId="{3374A53B-D9C2-4818-BD03-DCF003B68F24}" dt="2026-10-01T13:11:59.937" v="149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Benjamin Pumarino" userId="726d8df3-d59e-4542-b051-b3e4df386949" providerId="ADAL" clId="{3374A53B-D9C2-4818-BD03-DCF003B68F24}" dt="2026-10-01T13:00:32.757" v="37" actId="14100"/>
          <ac:spMkLst>
            <pc:docMk/>
            <pc:sldMk cId="0" sldId="258"/>
            <ac:spMk id="42" creationId="{00000000-0000-0000-0000-000000000000}"/>
          </ac:spMkLst>
        </pc:spChg>
        <pc:spChg chg="del mod">
          <ac:chgData name="Benjamin Pumarino" userId="726d8df3-d59e-4542-b051-b3e4df386949" providerId="ADAL" clId="{3374A53B-D9C2-4818-BD03-DCF003B68F24}" dt="2026-10-01T12:57:03.601" v="11" actId="21"/>
          <ac:spMkLst>
            <pc:docMk/>
            <pc:sldMk cId="0" sldId="258"/>
            <ac:spMk id="43" creationId="{00000000-0000-0000-0000-000000000000}"/>
          </ac:spMkLst>
        </pc:spChg>
        <pc:spChg chg="mod">
          <ac:chgData name="Benjamin Pumarino" userId="726d8df3-d59e-4542-b051-b3e4df386949" providerId="ADAL" clId="{3374A53B-D9C2-4818-BD03-DCF003B68F24}" dt="2026-10-01T12:59:54.094" v="29" actId="14100"/>
          <ac:spMkLst>
            <pc:docMk/>
            <pc:sldMk cId="0" sldId="258"/>
            <ac:spMk id="47" creationId="{00000000-0000-0000-0000-000000000000}"/>
          </ac:spMkLst>
        </pc:spChg>
        <pc:spChg chg="del">
          <ac:chgData name="Benjamin Pumarino" userId="726d8df3-d59e-4542-b051-b3e4df386949" providerId="ADAL" clId="{3374A53B-D9C2-4818-BD03-DCF003B68F24}" dt="2026-10-01T12:59:27.851" v="22" actId="21"/>
          <ac:spMkLst>
            <pc:docMk/>
            <pc:sldMk cId="0" sldId="258"/>
            <ac:spMk id="48" creationId="{00000000-0000-0000-0000-000000000000}"/>
          </ac:spMkLst>
        </pc:spChg>
        <pc:spChg chg="mod">
          <ac:chgData name="Benjamin Pumarino" userId="726d8df3-d59e-4542-b051-b3e4df386949" providerId="ADAL" clId="{3374A53B-D9C2-4818-BD03-DCF003B68F24}" dt="2026-10-01T13:00:52.675" v="40" actId="14100"/>
          <ac:spMkLst>
            <pc:docMk/>
            <pc:sldMk cId="0" sldId="258"/>
            <ac:spMk id="52" creationId="{00000000-0000-0000-0000-000000000000}"/>
          </ac:spMkLst>
        </pc:spChg>
        <pc:spChg chg="del">
          <ac:chgData name="Benjamin Pumarino" userId="726d8df3-d59e-4542-b051-b3e4df386949" providerId="ADAL" clId="{3374A53B-D9C2-4818-BD03-DCF003B68F24}" dt="2026-10-01T13:00:13.617" v="32" actId="21"/>
          <ac:spMkLst>
            <pc:docMk/>
            <pc:sldMk cId="0" sldId="258"/>
            <ac:spMk id="53" creationId="{00000000-0000-0000-0000-000000000000}"/>
          </ac:spMkLst>
        </pc:spChg>
        <pc:picChg chg="add mod">
          <ac:chgData name="Benjamin Pumarino" userId="726d8df3-d59e-4542-b051-b3e4df386949" providerId="ADAL" clId="{3374A53B-D9C2-4818-BD03-DCF003B68F24}" dt="2026-10-01T13:00:40.948" v="39" actId="14100"/>
          <ac:picMkLst>
            <pc:docMk/>
            <pc:sldMk cId="0" sldId="258"/>
            <ac:picMk id="57" creationId="{96DA206D-1797-9E16-1914-92C0E6A86560}"/>
          </ac:picMkLst>
        </pc:picChg>
        <pc:picChg chg="add mod">
          <ac:chgData name="Benjamin Pumarino" userId="726d8df3-d59e-4542-b051-b3e4df386949" providerId="ADAL" clId="{3374A53B-D9C2-4818-BD03-DCF003B68F24}" dt="2026-10-01T13:00:03.995" v="31" actId="14100"/>
          <ac:picMkLst>
            <pc:docMk/>
            <pc:sldMk cId="0" sldId="258"/>
            <ac:picMk id="59" creationId="{16A76599-B0BF-68C9-2D6B-486C2DA49062}"/>
          </ac:picMkLst>
        </pc:picChg>
        <pc:picChg chg="add mod">
          <ac:chgData name="Benjamin Pumarino" userId="726d8df3-d59e-4542-b051-b3e4df386949" providerId="ADAL" clId="{3374A53B-D9C2-4818-BD03-DCF003B68F24}" dt="2026-10-01T13:01:26.287" v="46" actId="14100"/>
          <ac:picMkLst>
            <pc:docMk/>
            <pc:sldMk cId="0" sldId="258"/>
            <ac:picMk id="61" creationId="{C30E1070-774E-CAF7-646D-791C79CB42AB}"/>
          </ac:picMkLst>
        </pc:picChg>
      </pc:sldChg>
      <pc:sldChg chg="addSp modSp new mod">
        <pc:chgData name="Benjamin Pumarino" userId="726d8df3-d59e-4542-b051-b3e4df386949" providerId="ADAL" clId="{3374A53B-D9C2-4818-BD03-DCF003B68F24}" dt="2026-10-01T13:06:27.061" v="98" actId="20577"/>
        <pc:sldMkLst>
          <pc:docMk/>
          <pc:sldMk cId="2416859574" sldId="259"/>
        </pc:sldMkLst>
        <pc:spChg chg="add mod">
          <ac:chgData name="Benjamin Pumarino" userId="726d8df3-d59e-4542-b051-b3e4df386949" providerId="ADAL" clId="{3374A53B-D9C2-4818-BD03-DCF003B68F24}" dt="2026-10-01T13:05:05.249" v="81" actId="1076"/>
          <ac:spMkLst>
            <pc:docMk/>
            <pc:sldMk cId="2416859574" sldId="259"/>
            <ac:spMk id="5" creationId="{74D495BB-621F-40AD-B302-F84DB7DAFF4C}"/>
          </ac:spMkLst>
        </pc:spChg>
        <pc:spChg chg="add mod">
          <ac:chgData name="Benjamin Pumarino" userId="726d8df3-d59e-4542-b051-b3e4df386949" providerId="ADAL" clId="{3374A53B-D9C2-4818-BD03-DCF003B68F24}" dt="2026-10-01T13:06:27.061" v="98" actId="20577"/>
          <ac:spMkLst>
            <pc:docMk/>
            <pc:sldMk cId="2416859574" sldId="259"/>
            <ac:spMk id="7" creationId="{278D3956-803A-3129-3DB7-9DE0BB0E0ABE}"/>
          </ac:spMkLst>
        </pc:spChg>
        <pc:picChg chg="add mod">
          <ac:chgData name="Benjamin Pumarino" userId="726d8df3-d59e-4542-b051-b3e4df386949" providerId="ADAL" clId="{3374A53B-D9C2-4818-BD03-DCF003B68F24}" dt="2026-10-01T13:02:50.267" v="60" actId="14100"/>
          <ac:picMkLst>
            <pc:docMk/>
            <pc:sldMk cId="2416859574" sldId="259"/>
            <ac:picMk id="3" creationId="{BC778A6F-A5FF-904C-62B4-ABF17AAE3F1B}"/>
          </ac:picMkLst>
        </pc:picChg>
      </pc:sldChg>
      <pc:sldChg chg="addSp modSp new mod">
        <pc:chgData name="Benjamin Pumarino" userId="726d8df3-d59e-4542-b051-b3e4df386949" providerId="ADAL" clId="{3374A53B-D9C2-4818-BD03-DCF003B68F24}" dt="2026-10-01T13:08:40.326" v="115" actId="14100"/>
        <pc:sldMkLst>
          <pc:docMk/>
          <pc:sldMk cId="1726170598" sldId="260"/>
        </pc:sldMkLst>
        <pc:spChg chg="add mod">
          <ac:chgData name="Benjamin Pumarino" userId="726d8df3-d59e-4542-b051-b3e4df386949" providerId="ADAL" clId="{3374A53B-D9C2-4818-BD03-DCF003B68F24}" dt="2026-10-01T13:07:17.470" v="105" actId="1076"/>
          <ac:spMkLst>
            <pc:docMk/>
            <pc:sldMk cId="1726170598" sldId="260"/>
            <ac:spMk id="3" creationId="{F37DE533-391C-EC07-4BED-32A73CF3CDFA}"/>
          </ac:spMkLst>
        </pc:spChg>
        <pc:spChg chg="add mod">
          <ac:chgData name="Benjamin Pumarino" userId="726d8df3-d59e-4542-b051-b3e4df386949" providerId="ADAL" clId="{3374A53B-D9C2-4818-BD03-DCF003B68F24}" dt="2026-10-01T13:07:53.399" v="110" actId="14100"/>
          <ac:spMkLst>
            <pc:docMk/>
            <pc:sldMk cId="1726170598" sldId="260"/>
            <ac:spMk id="5" creationId="{B3A074F2-A50F-BCBC-2381-6B3E7BB06AD7}"/>
          </ac:spMkLst>
        </pc:spChg>
        <pc:picChg chg="add mod">
          <ac:chgData name="Benjamin Pumarino" userId="726d8df3-d59e-4542-b051-b3e4df386949" providerId="ADAL" clId="{3374A53B-D9C2-4818-BD03-DCF003B68F24}" dt="2026-10-01T13:08:40.326" v="115" actId="14100"/>
          <ac:picMkLst>
            <pc:docMk/>
            <pc:sldMk cId="1726170598" sldId="260"/>
            <ac:picMk id="7" creationId="{759A3968-7D4C-7770-2333-9D527EBFC788}"/>
          </ac:picMkLst>
        </pc:picChg>
      </pc:sldChg>
      <pc:sldChg chg="addSp delSp modSp new mod">
        <pc:chgData name="Benjamin Pumarino" userId="726d8df3-d59e-4542-b051-b3e4df386949" providerId="ADAL" clId="{3374A53B-D9C2-4818-BD03-DCF003B68F24}" dt="2026-10-01T13:11:05.285" v="143" actId="1035"/>
        <pc:sldMkLst>
          <pc:docMk/>
          <pc:sldMk cId="2168235549" sldId="261"/>
        </pc:sldMkLst>
        <pc:spChg chg="add mod">
          <ac:chgData name="Benjamin Pumarino" userId="726d8df3-d59e-4542-b051-b3e4df386949" providerId="ADAL" clId="{3374A53B-D9C2-4818-BD03-DCF003B68F24}" dt="2026-10-01T13:09:30.937" v="121" actId="14100"/>
          <ac:spMkLst>
            <pc:docMk/>
            <pc:sldMk cId="2168235549" sldId="261"/>
            <ac:spMk id="3" creationId="{41A2E4A1-943F-58B3-CAD7-208B42756120}"/>
          </ac:spMkLst>
        </pc:spChg>
        <pc:spChg chg="add mod">
          <ac:chgData name="Benjamin Pumarino" userId="726d8df3-d59e-4542-b051-b3e4df386949" providerId="ADAL" clId="{3374A53B-D9C2-4818-BD03-DCF003B68F24}" dt="2026-10-01T13:10:06.771" v="131" actId="1076"/>
          <ac:spMkLst>
            <pc:docMk/>
            <pc:sldMk cId="2168235549" sldId="261"/>
            <ac:spMk id="5" creationId="{DA32DD5B-679E-1C8B-44EE-CD0DC0303CBA}"/>
          </ac:spMkLst>
        </pc:spChg>
        <pc:spChg chg="add del mod">
          <ac:chgData name="Benjamin Pumarino" userId="726d8df3-d59e-4542-b051-b3e4df386949" providerId="ADAL" clId="{3374A53B-D9C2-4818-BD03-DCF003B68F24}" dt="2026-10-01T13:10:09.241" v="133"/>
          <ac:spMkLst>
            <pc:docMk/>
            <pc:sldMk cId="2168235549" sldId="261"/>
            <ac:spMk id="6" creationId="{7C8BD968-2EE3-F727-0E2F-4B80C57B9162}"/>
          </ac:spMkLst>
        </pc:spChg>
        <pc:picChg chg="add mod">
          <ac:chgData name="Benjamin Pumarino" userId="726d8df3-d59e-4542-b051-b3e4df386949" providerId="ADAL" clId="{3374A53B-D9C2-4818-BD03-DCF003B68F24}" dt="2026-10-01T13:11:05.285" v="143" actId="1035"/>
          <ac:picMkLst>
            <pc:docMk/>
            <pc:sldMk cId="2168235549" sldId="261"/>
            <ac:picMk id="8" creationId="{2C62F35B-7E50-F5C5-4AB7-58A20B1D37C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2059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1. Tabla con las 14 tareas del plan (A1–A14): responsable, fecha planificada según la Gantt, % de avance y estado al 30 de septiembre de 2026 (semana S10). A1–A9 completadas, incluido el MVP del Hito 1 (29 sep) y el RAG con Qdrant Cloud en el deploy público. No hay tareas atrasadas. A12 y A13 ya están en curso; A10, A11 y A14 parten según lo planificado. La Gantt reducida marca con una línea roja la fecha de hoy.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2. Cinco entregables ligados a los tres hitos de la docente, cada uno con su criterio de aceptación medible y su fecha. Abajo, los ajustes hechos al proyecto desde la Fase 1 con su justificación, y los obstáculos y cambios que hemos enfrentado.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3. Escenario simulado: el stack completo de Enci-Intel y Enci-Ventas con Docker Compose (9 contenedores). Tres pruebas con el formato prueba → esperado → obtenido; reemplazar cada recuadro punteado por la captura real. Al cierre, lo que falta simular: la medición del Tiempo de Respuesta Competitiva de punta a punta y el levantamiento completo con un solo comando.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AVANCE TÉCNICO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Tareas técnicas y estado de avance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— Fase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817352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74552" cy="2798064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 técnica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planificada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avance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Evidencia asociada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 </a:t>
                      </a: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Diagnóstico técnico del legado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Pumarino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jul – 7 ago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 priorizado a partir de la auditoría de julio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 </a:t>
                      </a: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Monorepo Encipharm y migración a MongoDB + JWT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Pumarino / F. Ramos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– 21 ago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Monorepo unificado (14 ago) en GitHub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 </a:t>
                      </a: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con Qdrant y embeddings multilingües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Sánchez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ago – 18 sep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operativo con Qdrant Cloud en el deploy público (29 sep)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  </a:t>
                      </a: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Caché y limitador de tasa con Redis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Pumarino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– 21 ago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en docker-compose; limitador falla cerrado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  </a:t>
                      </a: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Orquestación de agentes con APScheduler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 Ramos / E. Sánchez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– 21 ago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agent-sag y agent-competidores + botón «Ejecutar ahora»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A6  </a:t>
                      </a: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de acceso e integración Ventas ↔ Intel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 Ramos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– 25 sep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Endpoints con JWT / API key; integración verificada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A7  </a:t>
                      </a: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Ambiente local en Docker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 Ramos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– 25 sep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 con 9 contenedores en ejecución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A8  </a:t>
                      </a: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Auditoría de seguridad, pruebas y CI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Pumarino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– 25 sep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críticos y 6 de 7 altos corregidos (1 descartado); CI en GitHub Actions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A9  </a:t>
                      </a: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con BD operativas y deploy (Hito 1)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 Ramos / B. Pumarino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sep – 2 oct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+ Atlas operativas; deploy Vercel + Render (29 sep)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A10  </a:t>
                      </a: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 de los 18 hallazgos restantes de auditoría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Pumarino / F. Ramos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sep – 23 oct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generar: 18 hallazgos con prueba de regresión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A11  </a:t>
                      </a: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 completo en Docker (Hito 2)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 Ramos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– 30 oct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generar: .env.example y un solo docker compose up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A12  </a:t>
                      </a: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Ampliación del scraping de competencia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Pumarino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– 30 oct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curso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Investigación hecha; Agrovet y Zoetis Chile descartados por ahora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A13  </a:t>
                      </a: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de recomendaciones y alertas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Sánchez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oct – 6 nov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curso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Parcial: urgencia por categoría terapéutica y resumen del Dashboard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A14  </a:t>
                      </a: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finales, documentación y entrega (Hito 3)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3 integrantes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– 27 nov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generar: informe final y medición del TRC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950208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GANTT (REDUCIDA)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2606040" y="3950208"/>
            <a:ext cx="306324" cy="246888"/>
          </a:xfrm>
          <a:prstGeom prst="rect">
            <a:avLst/>
          </a:prstGeom>
          <a:solidFill>
            <a:srgbClr val="0B3D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 txBox="1"/>
          <p:nvPr/>
        </p:nvSpPr>
        <p:spPr>
          <a:xfrm>
            <a:off x="2606040" y="3950208"/>
            <a:ext cx="30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27/7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2912364" y="3950208"/>
            <a:ext cx="306324" cy="246888"/>
          </a:xfrm>
          <a:prstGeom prst="rect">
            <a:avLst/>
          </a:prstGeom>
          <a:solidFill>
            <a:srgbClr val="0B3D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 txBox="1"/>
          <p:nvPr/>
        </p:nvSpPr>
        <p:spPr>
          <a:xfrm>
            <a:off x="2912364" y="3950208"/>
            <a:ext cx="30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3/8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3218688" y="3950208"/>
            <a:ext cx="306324" cy="246888"/>
          </a:xfrm>
          <a:prstGeom prst="rect">
            <a:avLst/>
          </a:prstGeom>
          <a:solidFill>
            <a:srgbClr val="0B3D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 txBox="1"/>
          <p:nvPr/>
        </p:nvSpPr>
        <p:spPr>
          <a:xfrm>
            <a:off x="3218688" y="3950208"/>
            <a:ext cx="30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10/8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3525012" y="3950208"/>
            <a:ext cx="306324" cy="246888"/>
          </a:xfrm>
          <a:prstGeom prst="rect">
            <a:avLst/>
          </a:prstGeom>
          <a:solidFill>
            <a:srgbClr val="0B3D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 txBox="1"/>
          <p:nvPr/>
        </p:nvSpPr>
        <p:spPr>
          <a:xfrm>
            <a:off x="3525012" y="3950208"/>
            <a:ext cx="30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17/8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3831336" y="3950208"/>
            <a:ext cx="306324" cy="246888"/>
          </a:xfrm>
          <a:prstGeom prst="rect">
            <a:avLst/>
          </a:prstGeom>
          <a:solidFill>
            <a:srgbClr val="0B3D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 txBox="1"/>
          <p:nvPr/>
        </p:nvSpPr>
        <p:spPr>
          <a:xfrm>
            <a:off x="3831336" y="3950208"/>
            <a:ext cx="30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24/8</a:t>
            </a:r>
            <a:endParaRPr lang="en-US" sz="550" dirty="0"/>
          </a:p>
        </p:txBody>
      </p:sp>
      <p:sp>
        <p:nvSpPr>
          <p:cNvPr id="18" name="Shape 15"/>
          <p:cNvSpPr/>
          <p:nvPr/>
        </p:nvSpPr>
        <p:spPr>
          <a:xfrm>
            <a:off x="4137660" y="3950208"/>
            <a:ext cx="306324" cy="246888"/>
          </a:xfrm>
          <a:prstGeom prst="rect">
            <a:avLst/>
          </a:prstGeom>
          <a:solidFill>
            <a:srgbClr val="0B3D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 txBox="1"/>
          <p:nvPr/>
        </p:nvSpPr>
        <p:spPr>
          <a:xfrm>
            <a:off x="4137660" y="3950208"/>
            <a:ext cx="30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31/8</a:t>
            </a:r>
            <a:endParaRPr lang="en-US" sz="550" dirty="0"/>
          </a:p>
        </p:txBody>
      </p:sp>
      <p:sp>
        <p:nvSpPr>
          <p:cNvPr id="20" name="Shape 17"/>
          <p:cNvSpPr/>
          <p:nvPr/>
        </p:nvSpPr>
        <p:spPr>
          <a:xfrm>
            <a:off x="4443984" y="3950208"/>
            <a:ext cx="306324" cy="246888"/>
          </a:xfrm>
          <a:prstGeom prst="rect">
            <a:avLst/>
          </a:prstGeom>
          <a:solidFill>
            <a:srgbClr val="0B3D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 txBox="1"/>
          <p:nvPr/>
        </p:nvSpPr>
        <p:spPr>
          <a:xfrm>
            <a:off x="4443984" y="3950208"/>
            <a:ext cx="30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7/9</a:t>
            </a:r>
            <a:endParaRPr lang="en-US" sz="550" dirty="0"/>
          </a:p>
        </p:txBody>
      </p:sp>
      <p:sp>
        <p:nvSpPr>
          <p:cNvPr id="22" name="Shape 19"/>
          <p:cNvSpPr/>
          <p:nvPr/>
        </p:nvSpPr>
        <p:spPr>
          <a:xfrm>
            <a:off x="4750308" y="3950208"/>
            <a:ext cx="306324" cy="246888"/>
          </a:xfrm>
          <a:prstGeom prst="rect">
            <a:avLst/>
          </a:prstGeom>
          <a:solidFill>
            <a:srgbClr val="0B3D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 txBox="1"/>
          <p:nvPr/>
        </p:nvSpPr>
        <p:spPr>
          <a:xfrm>
            <a:off x="4750308" y="3950208"/>
            <a:ext cx="30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14/9</a:t>
            </a:r>
            <a:endParaRPr lang="en-US" sz="550" dirty="0"/>
          </a:p>
        </p:txBody>
      </p:sp>
      <p:sp>
        <p:nvSpPr>
          <p:cNvPr id="24" name="Shape 21"/>
          <p:cNvSpPr/>
          <p:nvPr/>
        </p:nvSpPr>
        <p:spPr>
          <a:xfrm>
            <a:off x="5056632" y="3950208"/>
            <a:ext cx="306324" cy="246888"/>
          </a:xfrm>
          <a:prstGeom prst="rect">
            <a:avLst/>
          </a:prstGeom>
          <a:solidFill>
            <a:srgbClr val="0B3D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 txBox="1"/>
          <p:nvPr/>
        </p:nvSpPr>
        <p:spPr>
          <a:xfrm>
            <a:off x="5056632" y="3950208"/>
            <a:ext cx="30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21/9</a:t>
            </a:r>
            <a:endParaRPr lang="en-US" sz="550" dirty="0"/>
          </a:p>
        </p:txBody>
      </p:sp>
      <p:sp>
        <p:nvSpPr>
          <p:cNvPr id="26" name="Shape 23"/>
          <p:cNvSpPr/>
          <p:nvPr/>
        </p:nvSpPr>
        <p:spPr>
          <a:xfrm>
            <a:off x="5362956" y="3950208"/>
            <a:ext cx="306324" cy="246888"/>
          </a:xfrm>
          <a:prstGeom prst="rect">
            <a:avLst/>
          </a:prstGeom>
          <a:solidFill>
            <a:srgbClr val="0B3D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 txBox="1"/>
          <p:nvPr/>
        </p:nvSpPr>
        <p:spPr>
          <a:xfrm>
            <a:off x="5362956" y="3950208"/>
            <a:ext cx="30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28/9</a:t>
            </a:r>
            <a:endParaRPr lang="en-US" sz="550" dirty="0"/>
          </a:p>
        </p:txBody>
      </p:sp>
      <p:sp>
        <p:nvSpPr>
          <p:cNvPr id="28" name="Shape 25"/>
          <p:cNvSpPr/>
          <p:nvPr/>
        </p:nvSpPr>
        <p:spPr>
          <a:xfrm>
            <a:off x="5669280" y="3950208"/>
            <a:ext cx="306324" cy="246888"/>
          </a:xfrm>
          <a:prstGeom prst="rect">
            <a:avLst/>
          </a:prstGeom>
          <a:solidFill>
            <a:srgbClr val="0B3D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6"/>
          <p:cNvSpPr txBox="1"/>
          <p:nvPr/>
        </p:nvSpPr>
        <p:spPr>
          <a:xfrm>
            <a:off x="5669280" y="3950208"/>
            <a:ext cx="30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</a:t>
            </a:r>
            <a:endParaRPr lang="en-US" sz="550" dirty="0"/>
          </a:p>
        </p:txBody>
      </p:sp>
      <p:sp>
        <p:nvSpPr>
          <p:cNvPr id="30" name="Shape 27"/>
          <p:cNvSpPr/>
          <p:nvPr/>
        </p:nvSpPr>
        <p:spPr>
          <a:xfrm>
            <a:off x="5975604" y="3950208"/>
            <a:ext cx="306324" cy="246888"/>
          </a:xfrm>
          <a:prstGeom prst="rect">
            <a:avLst/>
          </a:prstGeom>
          <a:solidFill>
            <a:srgbClr val="0B3D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 txBox="1"/>
          <p:nvPr/>
        </p:nvSpPr>
        <p:spPr>
          <a:xfrm>
            <a:off x="5975604" y="3950208"/>
            <a:ext cx="30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12/10</a:t>
            </a:r>
            <a:endParaRPr lang="en-US" sz="550" dirty="0"/>
          </a:p>
        </p:txBody>
      </p:sp>
      <p:sp>
        <p:nvSpPr>
          <p:cNvPr id="32" name="Shape 29"/>
          <p:cNvSpPr/>
          <p:nvPr/>
        </p:nvSpPr>
        <p:spPr>
          <a:xfrm>
            <a:off x="6281928" y="3950208"/>
            <a:ext cx="306324" cy="246888"/>
          </a:xfrm>
          <a:prstGeom prst="rect">
            <a:avLst/>
          </a:prstGeom>
          <a:solidFill>
            <a:srgbClr val="0B3D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0"/>
          <p:cNvSpPr txBox="1"/>
          <p:nvPr/>
        </p:nvSpPr>
        <p:spPr>
          <a:xfrm>
            <a:off x="6281928" y="3950208"/>
            <a:ext cx="30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19/10</a:t>
            </a:r>
            <a:endParaRPr lang="en-US" sz="550" dirty="0"/>
          </a:p>
        </p:txBody>
      </p:sp>
      <p:sp>
        <p:nvSpPr>
          <p:cNvPr id="34" name="Shape 31"/>
          <p:cNvSpPr/>
          <p:nvPr/>
        </p:nvSpPr>
        <p:spPr>
          <a:xfrm>
            <a:off x="6588252" y="3950208"/>
            <a:ext cx="306324" cy="246888"/>
          </a:xfrm>
          <a:prstGeom prst="rect">
            <a:avLst/>
          </a:prstGeom>
          <a:solidFill>
            <a:srgbClr val="0B3D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2"/>
          <p:cNvSpPr txBox="1"/>
          <p:nvPr/>
        </p:nvSpPr>
        <p:spPr>
          <a:xfrm>
            <a:off x="6588252" y="3950208"/>
            <a:ext cx="30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26/10</a:t>
            </a:r>
            <a:endParaRPr lang="en-US" sz="550" dirty="0"/>
          </a:p>
        </p:txBody>
      </p:sp>
      <p:sp>
        <p:nvSpPr>
          <p:cNvPr id="36" name="Shape 33"/>
          <p:cNvSpPr/>
          <p:nvPr/>
        </p:nvSpPr>
        <p:spPr>
          <a:xfrm>
            <a:off x="6894576" y="3950208"/>
            <a:ext cx="306324" cy="246888"/>
          </a:xfrm>
          <a:prstGeom prst="rect">
            <a:avLst/>
          </a:prstGeom>
          <a:solidFill>
            <a:srgbClr val="0B3D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4"/>
          <p:cNvSpPr txBox="1"/>
          <p:nvPr/>
        </p:nvSpPr>
        <p:spPr>
          <a:xfrm>
            <a:off x="6894576" y="3950208"/>
            <a:ext cx="30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2/11</a:t>
            </a:r>
            <a:endParaRPr lang="en-US" sz="550" dirty="0"/>
          </a:p>
        </p:txBody>
      </p:sp>
      <p:sp>
        <p:nvSpPr>
          <p:cNvPr id="38" name="Shape 35"/>
          <p:cNvSpPr/>
          <p:nvPr/>
        </p:nvSpPr>
        <p:spPr>
          <a:xfrm>
            <a:off x="7200900" y="3950208"/>
            <a:ext cx="306324" cy="246888"/>
          </a:xfrm>
          <a:prstGeom prst="rect">
            <a:avLst/>
          </a:prstGeom>
          <a:solidFill>
            <a:srgbClr val="0B3D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6"/>
          <p:cNvSpPr txBox="1"/>
          <p:nvPr/>
        </p:nvSpPr>
        <p:spPr>
          <a:xfrm>
            <a:off x="7200900" y="3950208"/>
            <a:ext cx="30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9/11</a:t>
            </a:r>
            <a:endParaRPr lang="en-US" sz="550" dirty="0"/>
          </a:p>
        </p:txBody>
      </p:sp>
      <p:sp>
        <p:nvSpPr>
          <p:cNvPr id="40" name="Shape 37"/>
          <p:cNvSpPr/>
          <p:nvPr/>
        </p:nvSpPr>
        <p:spPr>
          <a:xfrm>
            <a:off x="7507224" y="3950208"/>
            <a:ext cx="306324" cy="246888"/>
          </a:xfrm>
          <a:prstGeom prst="rect">
            <a:avLst/>
          </a:prstGeom>
          <a:solidFill>
            <a:srgbClr val="0B3D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8"/>
          <p:cNvSpPr txBox="1"/>
          <p:nvPr/>
        </p:nvSpPr>
        <p:spPr>
          <a:xfrm>
            <a:off x="7507224" y="3950208"/>
            <a:ext cx="30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16/11</a:t>
            </a:r>
            <a:endParaRPr lang="en-US" sz="550" dirty="0"/>
          </a:p>
        </p:txBody>
      </p:sp>
      <p:sp>
        <p:nvSpPr>
          <p:cNvPr id="42" name="Shape 39"/>
          <p:cNvSpPr/>
          <p:nvPr/>
        </p:nvSpPr>
        <p:spPr>
          <a:xfrm>
            <a:off x="7813548" y="3950208"/>
            <a:ext cx="306324" cy="246888"/>
          </a:xfrm>
          <a:prstGeom prst="rect">
            <a:avLst/>
          </a:prstGeom>
          <a:solidFill>
            <a:srgbClr val="0B3D5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0"/>
          <p:cNvSpPr txBox="1"/>
          <p:nvPr/>
        </p:nvSpPr>
        <p:spPr>
          <a:xfrm>
            <a:off x="7813548" y="3950208"/>
            <a:ext cx="30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S18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23/11</a:t>
            </a:r>
            <a:endParaRPr lang="en-US" sz="550" dirty="0"/>
          </a:p>
        </p:txBody>
      </p:sp>
      <p:sp>
        <p:nvSpPr>
          <p:cNvPr id="44" name="Shape 41"/>
          <p:cNvSpPr/>
          <p:nvPr/>
        </p:nvSpPr>
        <p:spPr>
          <a:xfrm>
            <a:off x="457200" y="4197096"/>
            <a:ext cx="7662672" cy="114300"/>
          </a:xfrm>
          <a:prstGeom prst="rect">
            <a:avLst/>
          </a:prstGeom>
          <a:solidFill>
            <a:srgbClr val="FFFFFF"/>
          </a:solidFill>
          <a:ln w="3175">
            <a:solidFill>
              <a:srgbClr val="DDE6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 42"/>
          <p:cNvSpPr txBox="1"/>
          <p:nvPr/>
        </p:nvSpPr>
        <p:spPr>
          <a:xfrm>
            <a:off x="502920" y="4197096"/>
            <a:ext cx="2075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 Diagnóstico técnico del legado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2606040" y="4215384"/>
            <a:ext cx="612648" cy="77724"/>
          </a:xfrm>
          <a:prstGeom prst="rect">
            <a:avLst/>
          </a:prstGeom>
          <a:solidFill>
            <a:srgbClr val="D8E6EE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Shape 44"/>
          <p:cNvSpPr/>
          <p:nvPr/>
        </p:nvSpPr>
        <p:spPr>
          <a:xfrm>
            <a:off x="2606040" y="4215384"/>
            <a:ext cx="612648" cy="77724"/>
          </a:xfrm>
          <a:prstGeom prst="rect">
            <a:avLst/>
          </a:prstGeom>
          <a:solidFill>
            <a:srgbClr val="0B3D5C"/>
          </a:solidFill>
          <a:ln w="635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8" name="Shape 45"/>
          <p:cNvSpPr/>
          <p:nvPr/>
        </p:nvSpPr>
        <p:spPr>
          <a:xfrm>
            <a:off x="457200" y="4311396"/>
            <a:ext cx="7662672" cy="114300"/>
          </a:xfrm>
          <a:prstGeom prst="rect">
            <a:avLst/>
          </a:prstGeom>
          <a:solidFill>
            <a:srgbClr val="EEF3F6"/>
          </a:solidFill>
          <a:ln w="3175">
            <a:solidFill>
              <a:srgbClr val="DDE6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9" name="Text 46"/>
          <p:cNvSpPr txBox="1"/>
          <p:nvPr/>
        </p:nvSpPr>
        <p:spPr>
          <a:xfrm>
            <a:off x="502920" y="4311396"/>
            <a:ext cx="2075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 Monorepo Encipharm y migración a MongoDB + JWT</a:t>
            </a:r>
            <a:endParaRPr lang="en-US" sz="600" dirty="0"/>
          </a:p>
        </p:txBody>
      </p:sp>
      <p:sp>
        <p:nvSpPr>
          <p:cNvPr id="50" name="Shape 47"/>
          <p:cNvSpPr/>
          <p:nvPr/>
        </p:nvSpPr>
        <p:spPr>
          <a:xfrm>
            <a:off x="3218688" y="4329684"/>
            <a:ext cx="612648" cy="77724"/>
          </a:xfrm>
          <a:prstGeom prst="rect">
            <a:avLst/>
          </a:prstGeom>
          <a:solidFill>
            <a:srgbClr val="D8E6EE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1" name="Shape 48"/>
          <p:cNvSpPr/>
          <p:nvPr/>
        </p:nvSpPr>
        <p:spPr>
          <a:xfrm>
            <a:off x="3218688" y="4329684"/>
            <a:ext cx="612648" cy="77724"/>
          </a:xfrm>
          <a:prstGeom prst="rect">
            <a:avLst/>
          </a:prstGeom>
          <a:solidFill>
            <a:srgbClr val="0B3D5C"/>
          </a:solidFill>
          <a:ln w="635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2" name="Shape 49"/>
          <p:cNvSpPr/>
          <p:nvPr/>
        </p:nvSpPr>
        <p:spPr>
          <a:xfrm>
            <a:off x="457200" y="4425696"/>
            <a:ext cx="7662672" cy="114300"/>
          </a:xfrm>
          <a:prstGeom prst="rect">
            <a:avLst/>
          </a:prstGeom>
          <a:solidFill>
            <a:srgbClr val="FFFFFF"/>
          </a:solidFill>
          <a:ln w="3175">
            <a:solidFill>
              <a:srgbClr val="DDE6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3" name="Text 50"/>
          <p:cNvSpPr txBox="1"/>
          <p:nvPr/>
        </p:nvSpPr>
        <p:spPr>
          <a:xfrm>
            <a:off x="502920" y="4425696"/>
            <a:ext cx="2075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 RAG con Qdrant y embeddings multilingües</a:t>
            </a:r>
            <a:endParaRPr lang="en-US" sz="600" dirty="0"/>
          </a:p>
        </p:txBody>
      </p:sp>
      <p:sp>
        <p:nvSpPr>
          <p:cNvPr id="54" name="Shape 51"/>
          <p:cNvSpPr/>
          <p:nvPr/>
        </p:nvSpPr>
        <p:spPr>
          <a:xfrm>
            <a:off x="3218688" y="4443984"/>
            <a:ext cx="1837944" cy="77724"/>
          </a:xfrm>
          <a:prstGeom prst="rect">
            <a:avLst/>
          </a:prstGeom>
          <a:solidFill>
            <a:srgbClr val="D8E6EE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5" name="Shape 52"/>
          <p:cNvSpPr/>
          <p:nvPr/>
        </p:nvSpPr>
        <p:spPr>
          <a:xfrm>
            <a:off x="3218688" y="4443984"/>
            <a:ext cx="1837944" cy="77724"/>
          </a:xfrm>
          <a:prstGeom prst="rect">
            <a:avLst/>
          </a:prstGeom>
          <a:solidFill>
            <a:srgbClr val="0B3D5C"/>
          </a:solidFill>
          <a:ln w="635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7" name="Shape 54"/>
          <p:cNvSpPr/>
          <p:nvPr/>
        </p:nvSpPr>
        <p:spPr>
          <a:xfrm>
            <a:off x="457200" y="4539996"/>
            <a:ext cx="7662672" cy="114300"/>
          </a:xfrm>
          <a:prstGeom prst="rect">
            <a:avLst/>
          </a:prstGeom>
          <a:solidFill>
            <a:srgbClr val="EEF3F6"/>
          </a:solidFill>
          <a:ln w="3175">
            <a:solidFill>
              <a:srgbClr val="DDE6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8" name="Text 55"/>
          <p:cNvSpPr txBox="1"/>
          <p:nvPr/>
        </p:nvSpPr>
        <p:spPr>
          <a:xfrm>
            <a:off x="502920" y="4539996"/>
            <a:ext cx="2075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 Caché y limitador de tasa con Redis</a:t>
            </a:r>
            <a:endParaRPr lang="en-US" sz="600" dirty="0"/>
          </a:p>
        </p:txBody>
      </p:sp>
      <p:sp>
        <p:nvSpPr>
          <p:cNvPr id="59" name="Shape 56"/>
          <p:cNvSpPr/>
          <p:nvPr/>
        </p:nvSpPr>
        <p:spPr>
          <a:xfrm>
            <a:off x="3218688" y="4558284"/>
            <a:ext cx="612648" cy="77724"/>
          </a:xfrm>
          <a:prstGeom prst="rect">
            <a:avLst/>
          </a:prstGeom>
          <a:solidFill>
            <a:srgbClr val="D8E6EE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0" name="Shape 57"/>
          <p:cNvSpPr/>
          <p:nvPr/>
        </p:nvSpPr>
        <p:spPr>
          <a:xfrm>
            <a:off x="3218688" y="4558284"/>
            <a:ext cx="612648" cy="77724"/>
          </a:xfrm>
          <a:prstGeom prst="rect">
            <a:avLst/>
          </a:prstGeom>
          <a:solidFill>
            <a:srgbClr val="0B3D5C"/>
          </a:solidFill>
          <a:ln w="635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1" name="Shape 58"/>
          <p:cNvSpPr/>
          <p:nvPr/>
        </p:nvSpPr>
        <p:spPr>
          <a:xfrm>
            <a:off x="457200" y="4654296"/>
            <a:ext cx="7662672" cy="114300"/>
          </a:xfrm>
          <a:prstGeom prst="rect">
            <a:avLst/>
          </a:prstGeom>
          <a:solidFill>
            <a:srgbClr val="FFFFFF"/>
          </a:solidFill>
          <a:ln w="3175">
            <a:solidFill>
              <a:srgbClr val="DDE6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2" name="Text 59"/>
          <p:cNvSpPr txBox="1"/>
          <p:nvPr/>
        </p:nvSpPr>
        <p:spPr>
          <a:xfrm>
            <a:off x="502920" y="4654296"/>
            <a:ext cx="2075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 Orquestación de agentes con APScheduler</a:t>
            </a:r>
            <a:endParaRPr lang="en-US" sz="600" dirty="0"/>
          </a:p>
        </p:txBody>
      </p:sp>
      <p:sp>
        <p:nvSpPr>
          <p:cNvPr id="63" name="Shape 60"/>
          <p:cNvSpPr/>
          <p:nvPr/>
        </p:nvSpPr>
        <p:spPr>
          <a:xfrm>
            <a:off x="3218688" y="4672584"/>
            <a:ext cx="612648" cy="77724"/>
          </a:xfrm>
          <a:prstGeom prst="rect">
            <a:avLst/>
          </a:prstGeom>
          <a:solidFill>
            <a:srgbClr val="D8E6EE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4" name="Shape 61"/>
          <p:cNvSpPr/>
          <p:nvPr/>
        </p:nvSpPr>
        <p:spPr>
          <a:xfrm>
            <a:off x="3218688" y="4672584"/>
            <a:ext cx="612648" cy="77724"/>
          </a:xfrm>
          <a:prstGeom prst="rect">
            <a:avLst/>
          </a:prstGeom>
          <a:solidFill>
            <a:srgbClr val="0B3D5C"/>
          </a:solidFill>
          <a:ln w="635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5" name="Shape 62"/>
          <p:cNvSpPr/>
          <p:nvPr/>
        </p:nvSpPr>
        <p:spPr>
          <a:xfrm>
            <a:off x="457200" y="4768596"/>
            <a:ext cx="7662672" cy="114300"/>
          </a:xfrm>
          <a:prstGeom prst="rect">
            <a:avLst/>
          </a:prstGeom>
          <a:solidFill>
            <a:srgbClr val="EEF3F6"/>
          </a:solidFill>
          <a:ln w="3175">
            <a:solidFill>
              <a:srgbClr val="DDE6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6" name="Text 63"/>
          <p:cNvSpPr txBox="1"/>
          <p:nvPr/>
        </p:nvSpPr>
        <p:spPr>
          <a:xfrm>
            <a:off x="502920" y="4768596"/>
            <a:ext cx="2075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 Seguridad de acceso e integración Ventas ↔ Intel</a:t>
            </a:r>
            <a:endParaRPr lang="en-US" sz="600" dirty="0"/>
          </a:p>
        </p:txBody>
      </p:sp>
      <p:sp>
        <p:nvSpPr>
          <p:cNvPr id="67" name="Shape 64"/>
          <p:cNvSpPr/>
          <p:nvPr/>
        </p:nvSpPr>
        <p:spPr>
          <a:xfrm>
            <a:off x="4750308" y="4786884"/>
            <a:ext cx="612648" cy="77724"/>
          </a:xfrm>
          <a:prstGeom prst="rect">
            <a:avLst/>
          </a:prstGeom>
          <a:solidFill>
            <a:srgbClr val="D8E6EE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8" name="Shape 65"/>
          <p:cNvSpPr/>
          <p:nvPr/>
        </p:nvSpPr>
        <p:spPr>
          <a:xfrm>
            <a:off x="4750308" y="4786884"/>
            <a:ext cx="612648" cy="77724"/>
          </a:xfrm>
          <a:prstGeom prst="rect">
            <a:avLst/>
          </a:prstGeom>
          <a:solidFill>
            <a:srgbClr val="0B3D5C"/>
          </a:solidFill>
          <a:ln w="635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9" name="Shape 66"/>
          <p:cNvSpPr/>
          <p:nvPr/>
        </p:nvSpPr>
        <p:spPr>
          <a:xfrm>
            <a:off x="457200" y="4882896"/>
            <a:ext cx="7662672" cy="114300"/>
          </a:xfrm>
          <a:prstGeom prst="rect">
            <a:avLst/>
          </a:prstGeom>
          <a:solidFill>
            <a:srgbClr val="FFFFFF"/>
          </a:solidFill>
          <a:ln w="3175">
            <a:solidFill>
              <a:srgbClr val="DDE6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0" name="Text 67"/>
          <p:cNvSpPr txBox="1"/>
          <p:nvPr/>
        </p:nvSpPr>
        <p:spPr>
          <a:xfrm>
            <a:off x="502920" y="4882896"/>
            <a:ext cx="2075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  Ambiente local en Docker</a:t>
            </a:r>
            <a:endParaRPr lang="en-US" sz="600" dirty="0"/>
          </a:p>
        </p:txBody>
      </p:sp>
      <p:sp>
        <p:nvSpPr>
          <p:cNvPr id="71" name="Shape 68"/>
          <p:cNvSpPr/>
          <p:nvPr/>
        </p:nvSpPr>
        <p:spPr>
          <a:xfrm>
            <a:off x="5056632" y="4901184"/>
            <a:ext cx="306324" cy="77724"/>
          </a:xfrm>
          <a:prstGeom prst="rect">
            <a:avLst/>
          </a:prstGeom>
          <a:solidFill>
            <a:srgbClr val="D8E6EE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2" name="Shape 69"/>
          <p:cNvSpPr/>
          <p:nvPr/>
        </p:nvSpPr>
        <p:spPr>
          <a:xfrm>
            <a:off x="5056632" y="4901184"/>
            <a:ext cx="306324" cy="77724"/>
          </a:xfrm>
          <a:prstGeom prst="rect">
            <a:avLst/>
          </a:prstGeom>
          <a:solidFill>
            <a:srgbClr val="0B3D5C"/>
          </a:solidFill>
          <a:ln w="635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3" name="Shape 70"/>
          <p:cNvSpPr/>
          <p:nvPr/>
        </p:nvSpPr>
        <p:spPr>
          <a:xfrm>
            <a:off x="457200" y="4997196"/>
            <a:ext cx="7662672" cy="114300"/>
          </a:xfrm>
          <a:prstGeom prst="rect">
            <a:avLst/>
          </a:prstGeom>
          <a:solidFill>
            <a:srgbClr val="EEF3F6"/>
          </a:solidFill>
          <a:ln w="3175">
            <a:solidFill>
              <a:srgbClr val="DDE6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4" name="Text 71"/>
          <p:cNvSpPr txBox="1"/>
          <p:nvPr/>
        </p:nvSpPr>
        <p:spPr>
          <a:xfrm>
            <a:off x="502920" y="4997196"/>
            <a:ext cx="2075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  Auditoría de seguridad, pruebas y CI</a:t>
            </a:r>
            <a:endParaRPr lang="en-US" sz="600" dirty="0"/>
          </a:p>
        </p:txBody>
      </p:sp>
      <p:sp>
        <p:nvSpPr>
          <p:cNvPr id="75" name="Shape 72"/>
          <p:cNvSpPr/>
          <p:nvPr/>
        </p:nvSpPr>
        <p:spPr>
          <a:xfrm>
            <a:off x="5056632" y="5015484"/>
            <a:ext cx="306324" cy="77724"/>
          </a:xfrm>
          <a:prstGeom prst="rect">
            <a:avLst/>
          </a:prstGeom>
          <a:solidFill>
            <a:srgbClr val="D8E6EE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6" name="Shape 73"/>
          <p:cNvSpPr/>
          <p:nvPr/>
        </p:nvSpPr>
        <p:spPr>
          <a:xfrm>
            <a:off x="5056632" y="5015484"/>
            <a:ext cx="306324" cy="77724"/>
          </a:xfrm>
          <a:prstGeom prst="rect">
            <a:avLst/>
          </a:prstGeom>
          <a:solidFill>
            <a:srgbClr val="0B3D5C"/>
          </a:solidFill>
          <a:ln w="635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7" name="Shape 74"/>
          <p:cNvSpPr/>
          <p:nvPr/>
        </p:nvSpPr>
        <p:spPr>
          <a:xfrm>
            <a:off x="457200" y="5111496"/>
            <a:ext cx="7662672" cy="114300"/>
          </a:xfrm>
          <a:prstGeom prst="rect">
            <a:avLst/>
          </a:prstGeom>
          <a:solidFill>
            <a:srgbClr val="FFFFFF"/>
          </a:solidFill>
          <a:ln w="3175">
            <a:solidFill>
              <a:srgbClr val="DDE6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8" name="Text 75"/>
          <p:cNvSpPr txBox="1"/>
          <p:nvPr/>
        </p:nvSpPr>
        <p:spPr>
          <a:xfrm>
            <a:off x="502920" y="5111496"/>
            <a:ext cx="2075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  MVP con BD operativas y deploy (Hito 1)</a:t>
            </a:r>
            <a:endParaRPr lang="en-US" sz="600" dirty="0"/>
          </a:p>
        </p:txBody>
      </p:sp>
      <p:sp>
        <p:nvSpPr>
          <p:cNvPr id="79" name="Shape 76"/>
          <p:cNvSpPr/>
          <p:nvPr/>
        </p:nvSpPr>
        <p:spPr>
          <a:xfrm>
            <a:off x="5362956" y="5129784"/>
            <a:ext cx="306324" cy="77724"/>
          </a:xfrm>
          <a:prstGeom prst="rect">
            <a:avLst/>
          </a:prstGeom>
          <a:solidFill>
            <a:srgbClr val="D8E6EE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0" name="Shape 77"/>
          <p:cNvSpPr/>
          <p:nvPr/>
        </p:nvSpPr>
        <p:spPr>
          <a:xfrm>
            <a:off x="5362956" y="5129784"/>
            <a:ext cx="306324" cy="77724"/>
          </a:xfrm>
          <a:prstGeom prst="rect">
            <a:avLst/>
          </a:prstGeom>
          <a:solidFill>
            <a:srgbClr val="0B3D5C"/>
          </a:solidFill>
          <a:ln w="635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1" name="Shape 78"/>
          <p:cNvSpPr/>
          <p:nvPr/>
        </p:nvSpPr>
        <p:spPr>
          <a:xfrm>
            <a:off x="457200" y="5225796"/>
            <a:ext cx="7662672" cy="114300"/>
          </a:xfrm>
          <a:prstGeom prst="rect">
            <a:avLst/>
          </a:prstGeom>
          <a:solidFill>
            <a:srgbClr val="EEF3F6"/>
          </a:solidFill>
          <a:ln w="3175">
            <a:solidFill>
              <a:srgbClr val="DDE6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2" name="Text 79"/>
          <p:cNvSpPr txBox="1"/>
          <p:nvPr/>
        </p:nvSpPr>
        <p:spPr>
          <a:xfrm>
            <a:off x="502920" y="5225796"/>
            <a:ext cx="2075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  Cierre de los 18 hallazgos restantes de auditoría</a:t>
            </a:r>
            <a:endParaRPr lang="en-US" sz="600" dirty="0"/>
          </a:p>
        </p:txBody>
      </p:sp>
      <p:sp>
        <p:nvSpPr>
          <p:cNvPr id="83" name="Shape 80"/>
          <p:cNvSpPr/>
          <p:nvPr/>
        </p:nvSpPr>
        <p:spPr>
          <a:xfrm>
            <a:off x="5362956" y="5244084"/>
            <a:ext cx="1225296" cy="77724"/>
          </a:xfrm>
          <a:prstGeom prst="rect">
            <a:avLst/>
          </a:prstGeom>
          <a:solidFill>
            <a:srgbClr val="D8E6EE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4" name="Shape 81"/>
          <p:cNvSpPr/>
          <p:nvPr/>
        </p:nvSpPr>
        <p:spPr>
          <a:xfrm>
            <a:off x="457200" y="5340096"/>
            <a:ext cx="7662672" cy="114300"/>
          </a:xfrm>
          <a:prstGeom prst="rect">
            <a:avLst/>
          </a:prstGeom>
          <a:solidFill>
            <a:srgbClr val="FFFFFF"/>
          </a:solidFill>
          <a:ln w="3175">
            <a:solidFill>
              <a:srgbClr val="DDE6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5" name="Text 82"/>
          <p:cNvSpPr txBox="1"/>
          <p:nvPr/>
        </p:nvSpPr>
        <p:spPr>
          <a:xfrm>
            <a:off x="502920" y="5340096"/>
            <a:ext cx="2075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  Proyecto completo en Docker (Hito 2)</a:t>
            </a:r>
            <a:endParaRPr lang="en-US" sz="600" dirty="0"/>
          </a:p>
        </p:txBody>
      </p:sp>
      <p:sp>
        <p:nvSpPr>
          <p:cNvPr id="86" name="Shape 83"/>
          <p:cNvSpPr/>
          <p:nvPr/>
        </p:nvSpPr>
        <p:spPr>
          <a:xfrm>
            <a:off x="5975604" y="5358384"/>
            <a:ext cx="918972" cy="77724"/>
          </a:xfrm>
          <a:prstGeom prst="rect">
            <a:avLst/>
          </a:prstGeom>
          <a:solidFill>
            <a:srgbClr val="D8E6EE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7" name="Shape 84"/>
          <p:cNvSpPr/>
          <p:nvPr/>
        </p:nvSpPr>
        <p:spPr>
          <a:xfrm>
            <a:off x="457200" y="5454396"/>
            <a:ext cx="7662672" cy="114300"/>
          </a:xfrm>
          <a:prstGeom prst="rect">
            <a:avLst/>
          </a:prstGeom>
          <a:solidFill>
            <a:srgbClr val="EEF3F6"/>
          </a:solidFill>
          <a:ln w="3175">
            <a:solidFill>
              <a:srgbClr val="DDE6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8" name="Text 85"/>
          <p:cNvSpPr txBox="1"/>
          <p:nvPr/>
        </p:nvSpPr>
        <p:spPr>
          <a:xfrm>
            <a:off x="502920" y="5454396"/>
            <a:ext cx="2075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A12  Ampliación del scraping de competencia</a:t>
            </a:r>
            <a:endParaRPr lang="en-US" sz="600" dirty="0"/>
          </a:p>
        </p:txBody>
      </p:sp>
      <p:sp>
        <p:nvSpPr>
          <p:cNvPr id="89" name="Shape 86"/>
          <p:cNvSpPr/>
          <p:nvPr/>
        </p:nvSpPr>
        <p:spPr>
          <a:xfrm>
            <a:off x="5669280" y="5472684"/>
            <a:ext cx="1225296" cy="77724"/>
          </a:xfrm>
          <a:prstGeom prst="rect">
            <a:avLst/>
          </a:prstGeom>
          <a:solidFill>
            <a:srgbClr val="D8E6EE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0" name="Shape 87"/>
          <p:cNvSpPr/>
          <p:nvPr/>
        </p:nvSpPr>
        <p:spPr>
          <a:xfrm>
            <a:off x="457200" y="5568696"/>
            <a:ext cx="7662672" cy="114300"/>
          </a:xfrm>
          <a:prstGeom prst="rect">
            <a:avLst/>
          </a:prstGeom>
          <a:solidFill>
            <a:srgbClr val="FFFFFF"/>
          </a:solidFill>
          <a:ln w="3175">
            <a:solidFill>
              <a:srgbClr val="DDE6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1" name="Text 88"/>
          <p:cNvSpPr txBox="1"/>
          <p:nvPr/>
        </p:nvSpPr>
        <p:spPr>
          <a:xfrm>
            <a:off x="502920" y="5568696"/>
            <a:ext cx="2075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A13  Motor de recomendaciones y alertas</a:t>
            </a:r>
            <a:endParaRPr lang="en-US" sz="600" dirty="0"/>
          </a:p>
        </p:txBody>
      </p:sp>
      <p:sp>
        <p:nvSpPr>
          <p:cNvPr id="92" name="Shape 89"/>
          <p:cNvSpPr/>
          <p:nvPr/>
        </p:nvSpPr>
        <p:spPr>
          <a:xfrm>
            <a:off x="5669280" y="5586984"/>
            <a:ext cx="1531620" cy="77724"/>
          </a:xfrm>
          <a:prstGeom prst="rect">
            <a:avLst/>
          </a:prstGeom>
          <a:solidFill>
            <a:srgbClr val="D8E6EE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3" name="Shape 90"/>
          <p:cNvSpPr/>
          <p:nvPr/>
        </p:nvSpPr>
        <p:spPr>
          <a:xfrm>
            <a:off x="457200" y="5682996"/>
            <a:ext cx="7662672" cy="114300"/>
          </a:xfrm>
          <a:prstGeom prst="rect">
            <a:avLst/>
          </a:prstGeom>
          <a:solidFill>
            <a:srgbClr val="EEF3F6"/>
          </a:solidFill>
          <a:ln w="3175">
            <a:solidFill>
              <a:srgbClr val="DDE6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4" name="Text 91"/>
          <p:cNvSpPr txBox="1"/>
          <p:nvPr/>
        </p:nvSpPr>
        <p:spPr>
          <a:xfrm>
            <a:off x="502920" y="5682996"/>
            <a:ext cx="2075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A14  Pruebas finales, documentación y entrega (Hito 3)</a:t>
            </a:r>
            <a:endParaRPr lang="en-US" sz="600" dirty="0"/>
          </a:p>
        </p:txBody>
      </p:sp>
      <p:sp>
        <p:nvSpPr>
          <p:cNvPr id="95" name="Shape 92"/>
          <p:cNvSpPr/>
          <p:nvPr/>
        </p:nvSpPr>
        <p:spPr>
          <a:xfrm>
            <a:off x="7200900" y="5701284"/>
            <a:ext cx="918972" cy="77724"/>
          </a:xfrm>
          <a:prstGeom prst="rect">
            <a:avLst/>
          </a:prstGeom>
          <a:solidFill>
            <a:srgbClr val="D8E6EE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6" name="Shape 93"/>
          <p:cNvSpPr/>
          <p:nvPr/>
        </p:nvSpPr>
        <p:spPr>
          <a:xfrm>
            <a:off x="457200" y="5797296"/>
            <a:ext cx="7662672" cy="114300"/>
          </a:xfrm>
          <a:prstGeom prst="rect">
            <a:avLst/>
          </a:prstGeom>
          <a:solidFill>
            <a:srgbClr val="FDF3E3"/>
          </a:solidFill>
          <a:ln w="3175">
            <a:solidFill>
              <a:srgbClr val="DDE6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7" name="Text 94"/>
          <p:cNvSpPr txBox="1"/>
          <p:nvPr/>
        </p:nvSpPr>
        <p:spPr>
          <a:xfrm>
            <a:off x="502920" y="5797296"/>
            <a:ext cx="2075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de la docente</a:t>
            </a:r>
            <a:endParaRPr lang="en-US" sz="600" dirty="0"/>
          </a:p>
        </p:txBody>
      </p:sp>
      <p:sp>
        <p:nvSpPr>
          <p:cNvPr id="98" name="Shape 95"/>
          <p:cNvSpPr/>
          <p:nvPr/>
        </p:nvSpPr>
        <p:spPr>
          <a:xfrm>
            <a:off x="5362956" y="5815584"/>
            <a:ext cx="306324" cy="77724"/>
          </a:xfrm>
          <a:prstGeom prst="rect">
            <a:avLst/>
          </a:prstGeom>
          <a:solidFill>
            <a:srgbClr val="F2A93B"/>
          </a:solidFill>
          <a:ln w="63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9" name="Text 96"/>
          <p:cNvSpPr txBox="1"/>
          <p:nvPr/>
        </p:nvSpPr>
        <p:spPr>
          <a:xfrm>
            <a:off x="5362956" y="5797296"/>
            <a:ext cx="3063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550" dirty="0"/>
          </a:p>
        </p:txBody>
      </p:sp>
      <p:sp>
        <p:nvSpPr>
          <p:cNvPr id="100" name="Shape 97"/>
          <p:cNvSpPr/>
          <p:nvPr/>
        </p:nvSpPr>
        <p:spPr>
          <a:xfrm>
            <a:off x="6588252" y="5815584"/>
            <a:ext cx="306324" cy="77724"/>
          </a:xfrm>
          <a:prstGeom prst="rect">
            <a:avLst/>
          </a:prstGeom>
          <a:solidFill>
            <a:srgbClr val="F2A93B"/>
          </a:solidFill>
          <a:ln w="63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1" name="Text 98"/>
          <p:cNvSpPr txBox="1"/>
          <p:nvPr/>
        </p:nvSpPr>
        <p:spPr>
          <a:xfrm>
            <a:off x="6588252" y="5797296"/>
            <a:ext cx="3063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550" dirty="0"/>
          </a:p>
        </p:txBody>
      </p:sp>
      <p:sp>
        <p:nvSpPr>
          <p:cNvPr id="102" name="Shape 99"/>
          <p:cNvSpPr/>
          <p:nvPr/>
        </p:nvSpPr>
        <p:spPr>
          <a:xfrm>
            <a:off x="7507224" y="5815584"/>
            <a:ext cx="612648" cy="77724"/>
          </a:xfrm>
          <a:prstGeom prst="rect">
            <a:avLst/>
          </a:prstGeom>
          <a:solidFill>
            <a:srgbClr val="F2A93B"/>
          </a:solidFill>
          <a:ln w="63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3" name="Text 100"/>
          <p:cNvSpPr txBox="1"/>
          <p:nvPr/>
        </p:nvSpPr>
        <p:spPr>
          <a:xfrm>
            <a:off x="7507224" y="5797296"/>
            <a:ext cx="6126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550" dirty="0"/>
          </a:p>
        </p:txBody>
      </p:sp>
      <p:sp>
        <p:nvSpPr>
          <p:cNvPr id="104" name="Shape 101"/>
          <p:cNvSpPr/>
          <p:nvPr/>
        </p:nvSpPr>
        <p:spPr>
          <a:xfrm>
            <a:off x="5450477" y="3950208"/>
            <a:ext cx="0" cy="1979676"/>
          </a:xfrm>
          <a:prstGeom prst="line">
            <a:avLst/>
          </a:prstGeom>
          <a:noFill/>
          <a:ln w="22225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5" name="Text 102"/>
          <p:cNvSpPr txBox="1"/>
          <p:nvPr/>
        </p:nvSpPr>
        <p:spPr>
          <a:xfrm>
            <a:off x="4993277" y="5939028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· 30 sep</a:t>
            </a:r>
            <a:endParaRPr lang="en-US" sz="700" dirty="0"/>
          </a:p>
        </p:txBody>
      </p:sp>
      <p:sp>
        <p:nvSpPr>
          <p:cNvPr id="106" name="Shape 103"/>
          <p:cNvSpPr/>
          <p:nvPr/>
        </p:nvSpPr>
        <p:spPr>
          <a:xfrm>
            <a:off x="457200" y="6131052"/>
            <a:ext cx="146304" cy="82296"/>
          </a:xfrm>
          <a:prstGeom prst="rect">
            <a:avLst/>
          </a:prstGeom>
          <a:solidFill>
            <a:srgbClr val="0B3D5C"/>
          </a:solidFill>
          <a:ln w="635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7" name="Text 104"/>
          <p:cNvSpPr txBox="1"/>
          <p:nvPr/>
        </p:nvSpPr>
        <p:spPr>
          <a:xfrm>
            <a:off x="640080" y="6112764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</a:t>
            </a:r>
            <a:endParaRPr lang="en-US" sz="700" dirty="0"/>
          </a:p>
        </p:txBody>
      </p:sp>
      <p:sp>
        <p:nvSpPr>
          <p:cNvPr id="108" name="Shape 105"/>
          <p:cNvSpPr/>
          <p:nvPr/>
        </p:nvSpPr>
        <p:spPr>
          <a:xfrm>
            <a:off x="1417320" y="6131052"/>
            <a:ext cx="146304" cy="82296"/>
          </a:xfrm>
          <a:prstGeom prst="rect">
            <a:avLst/>
          </a:prstGeom>
          <a:solidFill>
            <a:srgbClr val="D8E6EE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9" name="Text 106"/>
          <p:cNvSpPr txBox="1"/>
          <p:nvPr/>
        </p:nvSpPr>
        <p:spPr>
          <a:xfrm>
            <a:off x="1600200" y="6112764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Planificado</a:t>
            </a:r>
            <a:endParaRPr lang="en-US" sz="700" dirty="0"/>
          </a:p>
        </p:txBody>
      </p:sp>
      <p:sp>
        <p:nvSpPr>
          <p:cNvPr id="110" name="Shape 107"/>
          <p:cNvSpPr/>
          <p:nvPr/>
        </p:nvSpPr>
        <p:spPr>
          <a:xfrm>
            <a:off x="2377440" y="6131052"/>
            <a:ext cx="146304" cy="82296"/>
          </a:xfrm>
          <a:prstGeom prst="rect">
            <a:avLst/>
          </a:prstGeom>
          <a:solidFill>
            <a:srgbClr val="B3261E"/>
          </a:solidFill>
          <a:ln w="635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1" name="Text 108"/>
          <p:cNvSpPr txBox="1"/>
          <p:nvPr/>
        </p:nvSpPr>
        <p:spPr>
          <a:xfrm>
            <a:off x="2560320" y="6112764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</a:t>
            </a:r>
            <a:endParaRPr lang="en-US" sz="700" dirty="0"/>
          </a:p>
        </p:txBody>
      </p:sp>
      <p:sp>
        <p:nvSpPr>
          <p:cNvPr id="112" name="Shape 109"/>
          <p:cNvSpPr/>
          <p:nvPr/>
        </p:nvSpPr>
        <p:spPr>
          <a:xfrm>
            <a:off x="3337560" y="6131052"/>
            <a:ext cx="146304" cy="82296"/>
          </a:xfrm>
          <a:prstGeom prst="rect">
            <a:avLst/>
          </a:prstGeom>
          <a:solidFill>
            <a:srgbClr val="F2A93B"/>
          </a:solidFill>
          <a:ln w="63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3" name="Text 110"/>
          <p:cNvSpPr txBox="1"/>
          <p:nvPr/>
        </p:nvSpPr>
        <p:spPr>
          <a:xfrm>
            <a:off x="3520440" y="6112764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</a:t>
            </a:r>
            <a:endParaRPr lang="en-US" sz="700" dirty="0"/>
          </a:p>
        </p:txBody>
      </p:sp>
      <p:sp>
        <p:nvSpPr>
          <p:cNvPr id="114" name="Shape 111"/>
          <p:cNvSpPr/>
          <p:nvPr/>
        </p:nvSpPr>
        <p:spPr>
          <a:xfrm>
            <a:off x="8366760" y="3950208"/>
            <a:ext cx="3364992" cy="2240280"/>
          </a:xfrm>
          <a:prstGeom prst="rect">
            <a:avLst/>
          </a:prstGeom>
          <a:solidFill>
            <a:srgbClr val="FBEAE8"/>
          </a:solidFill>
          <a:ln w="9525">
            <a:solidFill>
              <a:srgbClr val="E9C4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5" name="Text 112"/>
          <p:cNvSpPr txBox="1"/>
          <p:nvPr/>
        </p:nvSpPr>
        <p:spPr>
          <a:xfrm>
            <a:off x="8503920" y="402336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Tareas atrasadas (0)</a:t>
            </a:r>
            <a:endParaRPr lang="en-US" sz="1200" dirty="0"/>
          </a:p>
        </p:txBody>
      </p:sp>
      <p:sp>
        <p:nvSpPr>
          <p:cNvPr id="116" name="Text 113"/>
          <p:cNvSpPr txBox="1"/>
          <p:nvPr/>
        </p:nvSpPr>
        <p:spPr>
          <a:xfrm>
            <a:off x="8503920" y="4315968"/>
            <a:ext cx="30906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tareas atrasadas al 30 sep</a:t>
            </a:r>
            <a:endParaRPr lang="en-US" sz="950" dirty="0"/>
          </a:p>
          <a:p>
            <a:pPr marL="0" indent="0">
              <a:buNone/>
            </a:pPr>
            <a:r>
              <a:rPr lang="en-US" sz="850" b="1" dirty="0">
                <a:solidFill>
                  <a:srgbClr val="7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cerrada: </a:t>
            </a:r>
            <a:r>
              <a:rPr lang="en-US" sz="8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RAG opera con Qdrant Cloud en el deploy público (29 sep), con embeddings NVIDIA NIM de 2048 dimensiones.</a:t>
            </a:r>
            <a:endParaRPr lang="en-US" sz="950" dirty="0"/>
          </a:p>
          <a:p>
            <a:pPr marL="0" indent="0">
              <a:buNone/>
            </a:pPr>
            <a:r>
              <a:rPr lang="en-US" sz="850" b="1" dirty="0">
                <a:solidFill>
                  <a:srgbClr val="7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curso: </a:t>
            </a:r>
            <a:r>
              <a:rPr lang="en-US" sz="8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A12 (investigación hecha) y A13 (avance parcial), según lo planificado.</a:t>
            </a:r>
            <a:endParaRPr lang="en-US" sz="950" dirty="0"/>
          </a:p>
          <a:p>
            <a:pPr marL="0" indent="0">
              <a:buNone/>
            </a:pPr>
            <a:r>
              <a:rPr lang="en-US" sz="8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vigilancia: </a:t>
            </a:r>
            <a:r>
              <a:rPr lang="en-US" sz="8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 (18 hallazgos en 4 semanas); se mitiga con una prueba de regresión por hallazgo y CI en cada solicitud de cambio.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ENTREGABLES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 y criterios de éxito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— Fase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817352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4552" cy="2724912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Tareas asociadas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 de aceptación medible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comprometida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con bases de datos operativas y deploy público (Hito 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A2, A3, A4, A9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Enci-Ventas sobre Supabase y Enci-Intel sobre MongoDB Atlas, con migraciones y seeds ejecutables; 2 de 2 productos accesibles en línea y RAG respondiendo consultas reales.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Hito 1: 28 sep – 3 oct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 el 29 sep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Auditoría de seguridad cerrada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A8, A10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de 18 hallazgos pendientes corregidos (3 medio-altos, 11 medios, 2 bajo-medios, 2 bajos), cada uno con prueba de regresión y CI en verde.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oct (fin de S13)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 completo en Docker (Hito 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A5, A7, A11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solo docker compose up desde la raíz levanta todo el stack sin errores; .env.example con secretos obligatorios y servicios externos configurables por variables de entorno.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Hito 2: 26 – 31 oct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Scraping ampliado y motor de recomendaciones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A12, A13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Scraping de al menos 1 competidor adicional a Drag Pharma; colecciones market_share, import_trends, positioning_matrix y products pobladas; recomendaciones con datos reales (sin stub).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oct (scraping) y 6 nov (recomendaciones)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 final, documentación y medición del TRC (Hito 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de Respuesta Competitiva medido y menor a 4 horas; pruebas de punta a punta en verde; guía de traspaso y manual de instalación actualizados.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Hito 3: 16 – 28 nov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14800"/>
            <a:ext cx="5532120" cy="2194560"/>
          </a:xfrm>
          <a:prstGeom prst="rect">
            <a:avLst/>
          </a:prstGeom>
          <a:solidFill>
            <a:srgbClr val="EEF3F6"/>
          </a:solidFill>
          <a:ln w="9525">
            <a:solidFill>
              <a:srgbClr val="DDE6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 txBox="1"/>
          <p:nvPr/>
        </p:nvSpPr>
        <p:spPr>
          <a:xfrm>
            <a:off x="640080" y="42062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Ajustes desde la Fase 1 y justificación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4590288"/>
            <a:ext cx="237744" cy="237744"/>
          </a:xfrm>
          <a:prstGeom prst="ellipse">
            <a:avLst/>
          </a:prstGeom>
          <a:solidFill>
            <a:srgbClr val="0B3D5C"/>
          </a:solidFill>
          <a:ln w="635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 txBox="1"/>
          <p:nvPr/>
        </p:nvSpPr>
        <p:spPr>
          <a:xfrm>
            <a:off x="640080" y="45902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4572000"/>
            <a:ext cx="480060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Google Cloud (Firestore, Cloud Run, Scheduler) a MongoDB, APScheduler y Docker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la dependencia de GCP y facilita la ejecución local y las demos en línea (Vercel + Render).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" y="5013198"/>
            <a:ext cx="237744" cy="237744"/>
          </a:xfrm>
          <a:prstGeom prst="ellipse">
            <a:avLst/>
          </a:prstGeom>
          <a:solidFill>
            <a:srgbClr val="0B3D5C"/>
          </a:solidFill>
          <a:ln w="635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 txBox="1"/>
          <p:nvPr/>
        </p:nvSpPr>
        <p:spPr>
          <a:xfrm>
            <a:off x="640080" y="501319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4994910"/>
            <a:ext cx="480060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y Enci-Ventas en un monorepo con proxy autenticado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repositorio, compose en la raíz e integración verificable con JWT / API key.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" y="5436108"/>
            <a:ext cx="237744" cy="237744"/>
          </a:xfrm>
          <a:prstGeom prst="ellipse">
            <a:avLst/>
          </a:prstGeom>
          <a:solidFill>
            <a:srgbClr val="0B3D5C"/>
          </a:solidFill>
          <a:ln w="635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 txBox="1"/>
          <p:nvPr/>
        </p:nvSpPr>
        <p:spPr>
          <a:xfrm>
            <a:off x="640080" y="54361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" y="5417820"/>
            <a:ext cx="480060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vector store en pickle a Qdrant con embeddings NVIDIA NIM de 2048 dimensiones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local de 384 dim. excedía la memoria de Render; Qdrant permite búsqueda escalable.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0080" y="5859018"/>
            <a:ext cx="237744" cy="237744"/>
          </a:xfrm>
          <a:prstGeom prst="ellipse">
            <a:avLst/>
          </a:prstGeom>
          <a:solidFill>
            <a:srgbClr val="0B3D5C"/>
          </a:solidFill>
          <a:ln w="635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 txBox="1"/>
          <p:nvPr/>
        </p:nvSpPr>
        <p:spPr>
          <a:xfrm>
            <a:off x="640080" y="585901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05840" y="5840730"/>
            <a:ext cx="480060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y búsqueda global del CRM: implementar o retirar de la interfaz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mantener funciones maquetadas que aparentan operar.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199632" y="4114800"/>
            <a:ext cx="5532120" cy="2194560"/>
          </a:xfrm>
          <a:prstGeom prst="rect">
            <a:avLst/>
          </a:prstGeom>
          <a:solidFill>
            <a:srgbClr val="EEF3F6"/>
          </a:solidFill>
          <a:ln w="9525">
            <a:solidFill>
              <a:srgbClr val="DDE6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 txBox="1"/>
          <p:nvPr/>
        </p:nvSpPr>
        <p:spPr>
          <a:xfrm>
            <a:off x="6382512" y="42062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Obstáculos y cambios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382512" y="4590288"/>
            <a:ext cx="237744" cy="237744"/>
          </a:xfrm>
          <a:prstGeom prst="ellipse">
            <a:avLst/>
          </a:prstGeom>
          <a:solidFill>
            <a:srgbClr val="0B3D5C"/>
          </a:solidFill>
          <a:ln w="635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 txBox="1"/>
          <p:nvPr/>
        </p:nvSpPr>
        <p:spPr>
          <a:xfrm>
            <a:off x="6382512" y="45902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748272" y="4572000"/>
            <a:ext cx="480060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que intercepta TLS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Bloqueó la conexión a MongoDB Atlas y a contenedores (afectó a A7 y A9, ambas completadas).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382512" y="5013198"/>
            <a:ext cx="237744" cy="237744"/>
          </a:xfrm>
          <a:prstGeom prst="ellipse">
            <a:avLst/>
          </a:prstGeom>
          <a:solidFill>
            <a:srgbClr val="0B3D5C"/>
          </a:solidFill>
          <a:ln w="635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 txBox="1"/>
          <p:nvPr/>
        </p:nvSpPr>
        <p:spPr>
          <a:xfrm>
            <a:off x="6382512" y="501319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6748272" y="4994910"/>
            <a:ext cx="480060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corpus documental validado por el cliente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RAG responde poco; hay que acordar el corpus con Encipharm antes del Hito 3.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382512" y="5436108"/>
            <a:ext cx="237744" cy="237744"/>
          </a:xfrm>
          <a:prstGeom prst="ellipse">
            <a:avLst/>
          </a:prstGeom>
          <a:solidFill>
            <a:srgbClr val="0B3D5C"/>
          </a:solidFill>
          <a:ln w="635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 txBox="1"/>
          <p:nvPr/>
        </p:nvSpPr>
        <p:spPr>
          <a:xfrm>
            <a:off x="6382512" y="54361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6748272" y="5417820"/>
            <a:ext cx="480060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los sitios que scrapean los agentes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para A12 (SAG y competidores); se cubre con pruebas y reintentos acotados.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382512" y="5859018"/>
            <a:ext cx="237744" cy="237744"/>
          </a:xfrm>
          <a:prstGeom prst="ellipse">
            <a:avLst/>
          </a:prstGeom>
          <a:solidFill>
            <a:srgbClr val="0B3D5C"/>
          </a:solidFill>
          <a:ln w="635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0"/>
          <p:cNvSpPr txBox="1"/>
          <p:nvPr/>
        </p:nvSpPr>
        <p:spPr>
          <a:xfrm>
            <a:off x="6382512" y="585901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6748272" y="5840730"/>
            <a:ext cx="480060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Plazos cortos entre hitos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semana efectiva por hito y 18 hallazgos en 4 semanas; se prioriza por severidad y valor de negocio.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EVIDENCIAS DE AVANCE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Simulación del ambiente y pruebas de verificación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ENCI-INTEL — Fase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817352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760720" cy="4160520"/>
          </a:xfrm>
          <a:prstGeom prst="rect">
            <a:avLst/>
          </a:prstGeom>
          <a:solidFill>
            <a:srgbClr val="F7FAFC"/>
          </a:solidFill>
          <a:ln w="1905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594360" y="125272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9 contenedores (Docker Desktop + WSL2)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600200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4709160" y="1600200"/>
            <a:ext cx="1371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pgvector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(Ventas)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2286000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4709160" y="2286000"/>
            <a:ext cx="1371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Azurite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emulado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2971800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4709160" y="2971800"/>
            <a:ext cx="1371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(Intel)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3657600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4709160" y="3657600"/>
            <a:ext cx="1371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vectorial RAG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4343400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4709160" y="4343400"/>
            <a:ext cx="1371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 y rate limit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1815084"/>
            <a:ext cx="1554480" cy="822960"/>
          </a:xfrm>
          <a:prstGeom prst="rect">
            <a:avLst/>
          </a:prstGeom>
          <a:solidFill>
            <a:srgbClr val="D8E6EE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640080" y="1815084"/>
            <a:ext cx="15544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Enci-Ventas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438144"/>
            <a:ext cx="1554480" cy="1005840"/>
          </a:xfrm>
          <a:prstGeom prst="rect">
            <a:avLst/>
          </a:prstGeom>
          <a:solidFill>
            <a:srgbClr val="D8E6EE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640080" y="3438144"/>
            <a:ext cx="155448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Enci-Intel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06040" y="1815084"/>
            <a:ext cx="1737360" cy="822960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2606040" y="1815084"/>
            <a:ext cx="17373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Enci-Ventas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JWT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06040" y="3438144"/>
            <a:ext cx="1737360" cy="1005840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 txBox="1"/>
          <p:nvPr/>
        </p:nvSpPr>
        <p:spPr>
          <a:xfrm>
            <a:off x="2606040" y="3438144"/>
            <a:ext cx="173736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Enci-Intel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APScheduler · RAG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06040" y="4663440"/>
            <a:ext cx="1737360" cy="457200"/>
          </a:xfrm>
          <a:prstGeom prst="rect">
            <a:avLst/>
          </a:prstGeom>
          <a:solidFill>
            <a:srgbClr val="FDF3E3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 txBox="1"/>
          <p:nvPr/>
        </p:nvSpPr>
        <p:spPr>
          <a:xfrm>
            <a:off x="2606040" y="4663440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agent-sag · agent-competidores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94560" y="2226564"/>
            <a:ext cx="411480" cy="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2194560" y="3941064"/>
            <a:ext cx="411480" cy="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3474720" y="2638044"/>
            <a:ext cx="0" cy="800100"/>
          </a:xfrm>
          <a:prstGeom prst="line">
            <a:avLst/>
          </a:prstGeom>
          <a:noFill/>
          <a:ln w="15875">
            <a:solidFill>
              <a:srgbClr val="B3261E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 txBox="1"/>
          <p:nvPr/>
        </p:nvSpPr>
        <p:spPr>
          <a:xfrm>
            <a:off x="2606040" y="288036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S2S</a:t>
            </a:r>
            <a:endParaRPr lang="en-US" sz="750" dirty="0"/>
          </a:p>
          <a:p>
            <a:pPr marL="0" indent="0" algn="r">
              <a:buNone/>
            </a:pPr>
            <a:r>
              <a:rPr lang="en-US" sz="75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API key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 flipV="1">
            <a:off x="4343400" y="1883664"/>
            <a:ext cx="365760" cy="128016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4343400" y="2423160"/>
            <a:ext cx="365760" cy="14630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 flipV="1">
            <a:off x="4343400" y="3255264"/>
            <a:ext cx="365760" cy="448056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4343400" y="3941064"/>
            <a:ext cx="365760" cy="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6" name="Shape 34"/>
          <p:cNvSpPr/>
          <p:nvPr/>
        </p:nvSpPr>
        <p:spPr>
          <a:xfrm>
            <a:off x="4343400" y="4206240"/>
            <a:ext cx="365760" cy="42062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7" name="Shape 35"/>
          <p:cNvSpPr/>
          <p:nvPr/>
        </p:nvSpPr>
        <p:spPr>
          <a:xfrm flipV="1">
            <a:off x="3474720" y="4443984"/>
            <a:ext cx="0" cy="219456"/>
          </a:xfrm>
          <a:prstGeom prst="line">
            <a:avLst/>
          </a:prstGeom>
          <a:noFill/>
          <a:ln w="15875">
            <a:solidFill>
              <a:srgbClr val="F2A93B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457200" y="544068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simulación: Docker Compose (Docker Desktop + WSL2). Deploy público: Vercel (frontends) y Render (backends).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46520" y="1143000"/>
            <a:ext cx="528523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 txBox="1"/>
          <p:nvPr/>
        </p:nvSpPr>
        <p:spPr>
          <a:xfrm>
            <a:off x="6583680" y="12161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1 · Estado del ambiente Docker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583680" y="1490472"/>
            <a:ext cx="31089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Prueba: </a:t>
            </a:r>
            <a:r>
              <a:rPr lang="en-US" sz="9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ps en la raíz del monorepo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Esperado: </a:t>
            </a:r>
            <a:r>
              <a:rPr lang="en-US" sz="9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servicios en ejecución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Obtenido: </a:t>
            </a:r>
            <a:r>
              <a:rPr lang="en-US" sz="9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contenedores en ejecución (ambiente local, 29 sep)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585960" y="1234440"/>
            <a:ext cx="2118360" cy="1261872"/>
          </a:xfrm>
          <a:prstGeom prst="rect">
            <a:avLst/>
          </a:prstGeom>
          <a:solidFill>
            <a:srgbClr val="EEF3F6"/>
          </a:solidFill>
          <a:ln w="1270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44" name="Shape 42"/>
          <p:cNvSpPr/>
          <p:nvPr/>
        </p:nvSpPr>
        <p:spPr>
          <a:xfrm>
            <a:off x="6446520" y="2715768"/>
            <a:ext cx="528523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 txBox="1"/>
          <p:nvPr/>
        </p:nvSpPr>
        <p:spPr>
          <a:xfrm>
            <a:off x="6583680" y="27889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2 · Control de acceso en Enci-Intel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6583680" y="3063240"/>
            <a:ext cx="31089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Prueba: </a:t>
            </a:r>
            <a:r>
              <a:rPr lang="en-US" sz="9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 a un endpoint de lectura sin credencial y luego con JWT / API key de servicio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Esperado: </a:t>
            </a:r>
            <a:r>
              <a:rPr lang="en-US" sz="9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credencial: acceso denegado. Con credencial: 200 OK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Obtenido: </a:t>
            </a:r>
            <a:r>
              <a:rPr lang="en-US" sz="9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protegidos; integración Ventas → Intel verificada de punta a punta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585960" y="2825496"/>
            <a:ext cx="2120829" cy="1243584"/>
          </a:xfrm>
          <a:prstGeom prst="rect">
            <a:avLst/>
          </a:prstGeom>
          <a:solidFill>
            <a:srgbClr val="EEF3F6"/>
          </a:solidFill>
          <a:ln w="1270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49" name="Shape 47"/>
          <p:cNvSpPr/>
          <p:nvPr/>
        </p:nvSpPr>
        <p:spPr>
          <a:xfrm>
            <a:off x="6446520" y="4288536"/>
            <a:ext cx="528523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Text 48"/>
          <p:cNvSpPr txBox="1"/>
          <p:nvPr/>
        </p:nvSpPr>
        <p:spPr>
          <a:xfrm>
            <a:off x="6583680" y="43616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3 · Asistente RAG en el deploy público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6583680" y="4636008"/>
            <a:ext cx="31089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Prueba: </a:t>
            </a:r>
            <a:r>
              <a:rPr lang="en-US" sz="9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real al asistente desde Enci-Intel (Vercel + Render)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Esperado: </a:t>
            </a:r>
            <a:r>
              <a:rPr lang="en-US" sz="9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generada desde los documentos indexados en Qdrant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Obtenido: </a:t>
            </a:r>
            <a:r>
              <a:rPr lang="en-US" sz="9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asistente respondió preguntas reales en el deploy del 29 sep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692640" y="4398264"/>
            <a:ext cx="2011680" cy="1243584"/>
          </a:xfrm>
          <a:prstGeom prst="rect">
            <a:avLst/>
          </a:prstGeom>
          <a:solidFill>
            <a:srgbClr val="EEF3F6"/>
          </a:solidFill>
          <a:ln w="1270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54" name="Shape 52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solidFill>
            <a:srgbClr val="FDF3E3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5" name="Text 53"/>
          <p:cNvSpPr txBox="1"/>
          <p:nvPr/>
        </p:nvSpPr>
        <p:spPr>
          <a:xfrm>
            <a:off x="640080" y="58704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SIMULAR   </a:t>
            </a:r>
            <a:r>
              <a:rPr lang="en-US" sz="10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completo agente → alerta → CRM midiendo el Tiempo de Respuesta Competitiva (meta &lt; 4 h) con el scraping ampliado, y el levantamiento de todo el proyecto con un solo docker compose up (Hito 2).</a:t>
            </a:r>
            <a:endParaRPr lang="en-US" sz="1000" dirty="0"/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96DA206D-1797-9E16-1914-92C0E6A86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3490" y="1243069"/>
            <a:ext cx="2120830" cy="1243584"/>
          </a:xfrm>
          <a:prstGeom prst="rect">
            <a:avLst/>
          </a:prstGeom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16A76599-B0BF-68C9-2D6B-486C2DA49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490" y="2858691"/>
            <a:ext cx="2120830" cy="1190974"/>
          </a:xfrm>
          <a:prstGeom prst="rect">
            <a:avLst/>
          </a:prstGeom>
        </p:spPr>
      </p:pic>
      <p:pic>
        <p:nvPicPr>
          <p:cNvPr id="61" name="Imagen 60">
            <a:extLst>
              <a:ext uri="{FF2B5EF4-FFF2-40B4-BE49-F238E27FC236}">
                <a16:creationId xmlns:a16="http://schemas.microsoft.com/office/drawing/2014/main" id="{C30E1070-774E-CAF7-646D-791C79CB42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4419551"/>
            <a:ext cx="2011680" cy="12435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C778A6F-A5FF-904C-62B4-ABF17AAE3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6683"/>
            <a:ext cx="12192000" cy="6221317"/>
          </a:xfrm>
          <a:prstGeom prst="rect">
            <a:avLst/>
          </a:prstGeom>
        </p:spPr>
      </p:pic>
      <p:sp>
        <p:nvSpPr>
          <p:cNvPr id="5" name="Text 38">
            <a:extLst>
              <a:ext uri="{FF2B5EF4-FFF2-40B4-BE49-F238E27FC236}">
                <a16:creationId xmlns:a16="http://schemas.microsoft.com/office/drawing/2014/main" id="{74D495BB-621F-40AD-B302-F84DB7DAFF4C}"/>
              </a:ext>
            </a:extLst>
          </p:cNvPr>
          <p:cNvSpPr txBox="1"/>
          <p:nvPr/>
        </p:nvSpPr>
        <p:spPr>
          <a:xfrm>
            <a:off x="137160" y="41559"/>
            <a:ext cx="4729480" cy="396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1 · Estado del ambiente Docker</a:t>
            </a:r>
            <a:endParaRPr lang="en-US" sz="2000" dirty="0"/>
          </a:p>
        </p:txBody>
      </p:sp>
      <p:sp>
        <p:nvSpPr>
          <p:cNvPr id="7" name="Text 39">
            <a:extLst>
              <a:ext uri="{FF2B5EF4-FFF2-40B4-BE49-F238E27FC236}">
                <a16:creationId xmlns:a16="http://schemas.microsoft.com/office/drawing/2014/main" id="{278D3956-803A-3129-3DB7-9DE0BB0E0ABE}"/>
              </a:ext>
            </a:extLst>
          </p:cNvPr>
          <p:cNvSpPr txBox="1"/>
          <p:nvPr/>
        </p:nvSpPr>
        <p:spPr>
          <a:xfrm>
            <a:off x="5793740" y="82070"/>
            <a:ext cx="3312160" cy="45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Prueba: </a:t>
            </a:r>
            <a:r>
              <a:rPr lang="en-US" sz="9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ps en la raíz del </a:t>
            </a:r>
            <a:r>
              <a:rPr lang="en-US" sz="950" dirty="0" err="1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</a:t>
            </a:r>
            <a:endParaRPr lang="en-US" sz="950" dirty="0">
              <a:solidFill>
                <a:srgbClr val="17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50" b="1" dirty="0" err="1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</a:t>
            </a: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servicios </a:t>
            </a:r>
            <a:r>
              <a:rPr lang="en-US" sz="950" dirty="0" err="1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9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ejecución</a:t>
            </a:r>
          </a:p>
          <a:p>
            <a:pPr marL="0" indent="0">
              <a:buNone/>
            </a:pPr>
            <a:r>
              <a:rPr lang="en-US" sz="95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Obtenido</a:t>
            </a: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contenedores en ejecución (ambiente local, 29 sep)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416859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43">
            <a:extLst>
              <a:ext uri="{FF2B5EF4-FFF2-40B4-BE49-F238E27FC236}">
                <a16:creationId xmlns:a16="http://schemas.microsoft.com/office/drawing/2014/main" id="{F37DE533-391C-EC07-4BED-32A73CF3CDFA}"/>
              </a:ext>
            </a:extLst>
          </p:cNvPr>
          <p:cNvSpPr txBox="1"/>
          <p:nvPr/>
        </p:nvSpPr>
        <p:spPr>
          <a:xfrm>
            <a:off x="259080" y="0"/>
            <a:ext cx="470662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2 · Control de acceso en Enci-Intel</a:t>
            </a:r>
            <a:endParaRPr lang="en-US" sz="1600" dirty="0"/>
          </a:p>
        </p:txBody>
      </p:sp>
      <p:sp>
        <p:nvSpPr>
          <p:cNvPr id="5" name="Text 44">
            <a:extLst>
              <a:ext uri="{FF2B5EF4-FFF2-40B4-BE49-F238E27FC236}">
                <a16:creationId xmlns:a16="http://schemas.microsoft.com/office/drawing/2014/main" id="{B3A074F2-A50F-BCBC-2381-6B3E7BB06AD7}"/>
              </a:ext>
            </a:extLst>
          </p:cNvPr>
          <p:cNvSpPr txBox="1"/>
          <p:nvPr/>
        </p:nvSpPr>
        <p:spPr>
          <a:xfrm>
            <a:off x="4541520" y="144272"/>
            <a:ext cx="739140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Prueba: </a:t>
            </a: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 a un endpoint de lectura sin credencial y luego con JWT / API key de servicio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Esperado: </a:t>
            </a: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credencial: acceso denegado. Con credencial: 200 OK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Obtenido: </a:t>
            </a: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protegidos; integración Ventas → Intel verificada de punta a punta</a:t>
            </a:r>
            <a:endParaRPr lang="en-US" sz="1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59A3968-7D4C-7770-2333-9D527EBFC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9752"/>
            <a:ext cx="12192000" cy="604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170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48">
            <a:extLst>
              <a:ext uri="{FF2B5EF4-FFF2-40B4-BE49-F238E27FC236}">
                <a16:creationId xmlns:a16="http://schemas.microsoft.com/office/drawing/2014/main" id="{41A2E4A1-943F-58B3-CAD7-208B42756120}"/>
              </a:ext>
            </a:extLst>
          </p:cNvPr>
          <p:cNvSpPr txBox="1"/>
          <p:nvPr/>
        </p:nvSpPr>
        <p:spPr>
          <a:xfrm>
            <a:off x="208280" y="69088"/>
            <a:ext cx="5024120" cy="604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3 · Asistente RAG en el deploy público</a:t>
            </a:r>
            <a:endParaRPr lang="en-US" dirty="0"/>
          </a:p>
        </p:txBody>
      </p:sp>
      <p:sp>
        <p:nvSpPr>
          <p:cNvPr id="5" name="Text 49">
            <a:extLst>
              <a:ext uri="{FF2B5EF4-FFF2-40B4-BE49-F238E27FC236}">
                <a16:creationId xmlns:a16="http://schemas.microsoft.com/office/drawing/2014/main" id="{DA32DD5B-679E-1C8B-44EE-CD0DC0303CBA}"/>
              </a:ext>
            </a:extLst>
          </p:cNvPr>
          <p:cNvSpPr txBox="1"/>
          <p:nvPr/>
        </p:nvSpPr>
        <p:spPr>
          <a:xfrm>
            <a:off x="6096000" y="87868"/>
            <a:ext cx="5499100" cy="58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Prueba: </a:t>
            </a: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real al asistente desde Enci-Intel (Vercel + Render)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Esperado: </a:t>
            </a: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generada desde los documentos indexados en Qdrant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Obtenido: </a:t>
            </a: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asistente respondió preguntas reales en el deploy del 29 sep</a:t>
            </a:r>
            <a:endParaRPr lang="en-US" sz="12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C62F35B-7E50-F5C5-4AB7-58A20B1D3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3551"/>
            <a:ext cx="12192000" cy="596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235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1841</Words>
  <Application>Microsoft Office PowerPoint</Application>
  <PresentationFormat>Panorámica</PresentationFormat>
  <Paragraphs>272</Paragraphs>
  <Slides>6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Enci-Intel — Avance Fase 1</dc:title>
  <dc:subject>PptxGenJS Presentation</dc:subject>
  <dc:creator>PptxGenJS</dc:creator>
  <cp:lastModifiedBy>Benjamin Pumarino</cp:lastModifiedBy>
  <cp:revision>1</cp:revision>
  <dcterms:created xsi:type="dcterms:W3CDTF">2026-09-30T12:40:50Z</dcterms:created>
  <dcterms:modified xsi:type="dcterms:W3CDTF">2026-10-01T13:12:06Z</dcterms:modified>
</cp:coreProperties>
</file>